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2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569F8-EAAD-21BB-F1E7-E40C0A7F5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139B6-A477-67E4-1C5F-C95C8D62C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67332-C8BB-5A28-F360-D75E733E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77D3-42F9-DCC5-AA45-423B138D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202BC-8BA7-958E-80AE-EC4BC653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37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59C7-4DAA-140D-191D-E09654B8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43C6D-08E0-F41B-8952-F5B77D429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C204B-1662-A2F0-B1B2-F7FCEBDB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084C6-E00A-8BAD-7A8F-F3AFF6FDA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E0EB2-958B-D92C-9E06-FAE9ABF8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4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450D-4106-EC47-FCD4-8EE066E7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102A5-C472-A5FE-E772-505D7C000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26451-DD91-C9CA-E578-CB688411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04DA1-254F-B1E8-715B-9FBF69EE7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AB90F-3A79-7EDB-0BD3-26962323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1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897C-74E1-594C-8034-41A03AC4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2BBBC-6575-47B7-CBA4-8DB527031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D3DE3-A216-D523-E5B7-5BE512BC9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0DA8A-75A8-ED60-082E-C4A83E54D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44C91-3EB5-035D-B597-ACF20B1D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6345C-9B38-EC86-514E-C8872069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7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C052-BD00-BFC5-671B-645DE919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CEED6-D9C2-8A9C-C041-E698A58F6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6B002-41F6-F840-BD81-9C54B53F3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7525C-3415-5BE9-9876-0BCFB67426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D7E50-8ACA-EEA6-080A-42E103FBC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C692B-FF4D-AD96-C4C8-4DE3227FD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B75D6-9CAE-557C-FD7B-CED4722FE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6FBAE-4AD0-EFCB-3F48-BED45DC1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57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044E-4854-51B7-268C-B41C69AB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134390-961D-87C3-92AF-D9AE946D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C27D5-B946-1107-A4D6-385240DB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CD6CF-8914-B6CB-D0B9-04F183DB0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7F02B9-9376-D2B2-AC48-38E65CD36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4515D-46D8-8BBE-061B-35D61C6A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503F9-821C-BDBF-AEAD-3F74B1650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2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ECC5-5F1E-3AA6-BE2D-3DDA4D1FA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627B9-586C-4F8A-04B5-4AB262A6C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48B6B-339D-AE1A-2223-9472B0764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B365E-5C72-F4CB-B2E3-1253AC8C2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D9348-32E6-5C7C-B89D-EB0C721F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7BE48-A9B4-1090-779E-2D08B7EA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86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7CE5-748E-00F6-2A10-A74439ECE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2CB6CC-35D8-F39C-85FE-83C03DBB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D02F8-415E-E18A-CAF4-331F5ABCE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A5438-BCF9-066D-E7E5-0EB49DE0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723FC-B8AE-C153-2736-B9C1799F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D3F21-EC83-22AE-9927-8E4ADE46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9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8D3-5934-4197-80F9-A0B9897D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DA140-71A5-AAB0-2667-C5E205997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D981-C138-9F6D-4969-7405CF78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DF696-A2BF-3590-9BFD-F8D33E81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33202-BFBF-82DC-B781-772829F8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96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1817E-BF0D-90F8-6C37-39D983FEC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D32ED-2082-C3C8-BE9F-2797C9EBB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1E67C-75EF-B620-00A2-7964F376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9EBEB-30A0-04E0-8D3F-1A1AADFA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FADFE-6D44-D227-49A5-1653C183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22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70605-066E-AF30-A67F-8550FE3F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EDFF4-CAFD-AD11-3B5E-8B3B36E29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F7D7C-86B8-8909-90D2-804B63E19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59D27-481B-46E3-A139-1E3C95EEEC7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CB77D-40C9-C4E8-14B6-E95D9D957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3B564-1968-A0D2-984A-690475DCB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8DDD2-FC3F-4CB5-993E-926D4F057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40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35A22-96CA-3161-0E27-98A4111D73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Hangman AI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61607-153B-17B2-62BE-9A8847E79D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Easy, Medium, and Hard letter-guessing strategies from backend/services/aiService.js</a:t>
            </a:r>
          </a:p>
        </p:txBody>
      </p:sp>
    </p:spTree>
    <p:extLst>
      <p:ext uri="{BB962C8B-B14F-4D97-AF65-F5344CB8AC3E}">
        <p14:creationId xmlns:p14="http://schemas.microsoft.com/office/powerpoint/2010/main" val="2187816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8062B7-EA02-9FE1-3340-1F3345737792}"/>
              </a:ext>
            </a:extLst>
          </p:cNvPr>
          <p:cNvSpPr txBox="1"/>
          <p:nvPr/>
        </p:nvSpPr>
        <p:spPr>
          <a:xfrm>
            <a:off x="381000" y="2540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How the AI Works First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14A2B8-0E16-9B0E-C914-F4C295F48CCF}"/>
              </a:ext>
            </a:extLst>
          </p:cNvPr>
          <p:cNvSpPr txBox="1"/>
          <p:nvPr/>
        </p:nvSpPr>
        <p:spPr>
          <a:xfrm>
            <a:off x="508000" y="1016000"/>
            <a:ext cx="5080000" cy="25545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• The AI does not guess randomly. It first filters the dictionary to words that still match the board pattern.</a:t>
            </a:r>
          </a:p>
          <a:p>
            <a:r>
              <a:rPr lang="en-US" sz="2000"/>
              <a:t>• Example: if the board is _ A _ _ E, only words with 5 letters, A in position 2, E in position 5, and no wrong letters remain.</a:t>
            </a:r>
          </a:p>
          <a:p>
            <a:r>
              <a:rPr lang="en-US" sz="2000"/>
              <a:t>• After filtering, each difficulty uses a different rule to choose the next letter.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049F5-F0CC-E932-4FD7-99C10807C51B}"/>
              </a:ext>
            </a:extLst>
          </p:cNvPr>
          <p:cNvSpPr txBox="1"/>
          <p:nvPr/>
        </p:nvSpPr>
        <p:spPr>
          <a:xfrm>
            <a:off x="5778500" y="1143000"/>
            <a:ext cx="3175000" cy="1892826"/>
          </a:xfrm>
          <a:prstGeom prst="rect">
            <a:avLst/>
          </a:prstGeom>
          <a:solidFill>
            <a:srgbClr val="F0F0F0"/>
          </a:solidFill>
          <a:ln>
            <a:solidFill>
              <a:prstClr val="black"/>
            </a:solidFill>
          </a:ln>
        </p:spPr>
        <p:txBody>
          <a:bodyPr vert="horz" rtlCol="0">
            <a:spAutoFit/>
          </a:bodyPr>
          <a:lstStyle/>
          <a:p>
            <a:r>
              <a:rPr lang="en-US" sz="1300">
                <a:latin typeface="Consolas" panose="020B0609020204030204" pitchFamily="49" charset="0"/>
              </a:rPr>
              <a:t>const candidates = allWords.filter(word =&gt; {</a:t>
            </a:r>
          </a:p>
          <a:p>
            <a:r>
              <a:rPr lang="en-US" sz="1300">
                <a:latin typeface="Consolas" panose="020B0609020204030204" pitchFamily="49" charset="0"/>
              </a:rPr>
              <a:t>  if (word.length !== wordLen) return false</a:t>
            </a:r>
          </a:p>
          <a:p>
            <a:r>
              <a:rPr lang="en-US" sz="1300">
                <a:latin typeface="Consolas" panose="020B0609020204030204" pitchFamily="49" charset="0"/>
              </a:rPr>
              <a:t>  // revealed letters must match</a:t>
            </a:r>
          </a:p>
          <a:p>
            <a:r>
              <a:rPr lang="en-US" sz="1300">
                <a:latin typeface="Consolas" panose="020B0609020204030204" pitchFamily="49" charset="0"/>
              </a:rPr>
              <a:t>  // wrong letters must not appear</a:t>
            </a:r>
          </a:p>
          <a:p>
            <a:r>
              <a:rPr lang="en-US" sz="1300">
                <a:latin typeface="Consolas" panose="020B0609020204030204" pitchFamily="49" charset="0"/>
              </a:rPr>
              <a:t>  return true</a:t>
            </a:r>
          </a:p>
          <a:p>
            <a:r>
              <a:rPr lang="en-US" sz="1300">
                <a:latin typeface="Consolas" panose="020B06090202040302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08893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B9481-ED3F-F86F-0EC7-B8C8ABE010A2}"/>
              </a:ext>
            </a:extLst>
          </p:cNvPr>
          <p:cNvSpPr txBox="1"/>
          <p:nvPr/>
        </p:nvSpPr>
        <p:spPr>
          <a:xfrm>
            <a:off x="381000" y="2540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Easy: Frequency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24000-0880-AF65-86C1-099A4D5783B0}"/>
              </a:ext>
            </a:extLst>
          </p:cNvPr>
          <p:cNvSpPr txBox="1"/>
          <p:nvPr/>
        </p:nvSpPr>
        <p:spPr>
          <a:xfrm>
            <a:off x="508000" y="1016000"/>
            <a:ext cx="5080000" cy="31700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• Easy mode counts how many candidate words contain each unguessed letter.</a:t>
            </a:r>
          </a:p>
          <a:p>
            <a:r>
              <a:rPr lang="en-US" sz="2000"/>
              <a:t>• It chooses the most common letter, with a small random multiplier so it feels less perfect.</a:t>
            </a:r>
          </a:p>
          <a:p>
            <a:r>
              <a:rPr lang="en-US" sz="2000"/>
              <a:t>• Example: from CABLE, TABLE, MAPLE, EAGLE, the letter L appears in all 4 words, so L is a strong next guess.</a:t>
            </a:r>
          </a:p>
          <a:p>
            <a:r>
              <a:rPr lang="en-US" sz="2000"/>
              <a:t>• Why: common letters are more likely to reveal progress, and the jitter keeps the AI human-like.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EC124-270D-8173-5937-92C36D8E5A16}"/>
              </a:ext>
            </a:extLst>
          </p:cNvPr>
          <p:cNvSpPr txBox="1"/>
          <p:nvPr/>
        </p:nvSpPr>
        <p:spPr>
          <a:xfrm>
            <a:off x="5778500" y="1143000"/>
            <a:ext cx="3175000" cy="1492716"/>
          </a:xfrm>
          <a:prstGeom prst="rect">
            <a:avLst/>
          </a:prstGeom>
          <a:solidFill>
            <a:srgbClr val="F0F0F0"/>
          </a:solidFill>
          <a:ln>
            <a:solidFill>
              <a:prstClr val="black"/>
            </a:solidFill>
          </a:ln>
        </p:spPr>
        <p:txBody>
          <a:bodyPr vert="horz" rtlCol="0">
            <a:spAutoFit/>
          </a:bodyPr>
          <a:lstStyle/>
          <a:p>
            <a:r>
              <a:rPr lang="en-US" sz="1300">
                <a:latin typeface="Consolas" panose="020B0609020204030204" pitchFamily="49" charset="0"/>
              </a:rPr>
              <a:t>for (const [letter, count] of Object.entries(freq)) {</a:t>
            </a:r>
          </a:p>
          <a:p>
            <a:r>
              <a:rPr lang="en-US" sz="1300">
                <a:latin typeface="Consolas" panose="020B0609020204030204" pitchFamily="49" charset="0"/>
              </a:rPr>
              <a:t>  const score = count * (0.9 + Math.random() * 0.2)</a:t>
            </a:r>
          </a:p>
          <a:p>
            <a:r>
              <a:rPr lang="en-US" sz="1300">
                <a:latin typeface="Consolas" panose="020B0609020204030204" pitchFamily="49" charset="0"/>
              </a:rPr>
              <a:t>  if (score &gt; maxFreq) bestLetter = letter</a:t>
            </a:r>
          </a:p>
          <a:p>
            <a:r>
              <a:rPr lang="en-US" sz="130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546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A74528-6CAF-2AC6-25EB-737F0DA72646}"/>
              </a:ext>
            </a:extLst>
          </p:cNvPr>
          <p:cNvSpPr txBox="1"/>
          <p:nvPr/>
        </p:nvSpPr>
        <p:spPr>
          <a:xfrm>
            <a:off x="381000" y="2540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Medium: Heuristic Scoring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C79CD-64D0-1BCB-F04F-86549D08A541}"/>
              </a:ext>
            </a:extLst>
          </p:cNvPr>
          <p:cNvSpPr txBox="1"/>
          <p:nvPr/>
        </p:nvSpPr>
        <p:spPr>
          <a:xfrm>
            <a:off x="508000" y="1016000"/>
            <a:ext cx="508000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• Medium mode gives each letter a weighted score instead of using raw frequency alone.</a:t>
            </a:r>
          </a:p>
          <a:p>
            <a:r>
              <a:rPr lang="en-US" sz="2000"/>
              <a:t>• It combines 3 signals: frequency, positional probability in blank slots, and candidate coverage.</a:t>
            </a:r>
          </a:p>
          <a:p>
            <a:r>
              <a:rPr lang="en-US" sz="2000"/>
              <a:t>• Example: with _ A _ _ E and candidates CABLE, TABLE, MAPLE, EAGLE, L scores high because it is common and often appears in useful blank positions.</a:t>
            </a:r>
          </a:p>
          <a:p>
            <a:r>
              <a:rPr lang="en-US" sz="2000"/>
              <a:t>• Why: this is stronger than easy mode because it uses both popularity and board structure.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80EAD-183E-48B5-60D6-1233D78F1199}"/>
              </a:ext>
            </a:extLst>
          </p:cNvPr>
          <p:cNvSpPr txBox="1"/>
          <p:nvPr/>
        </p:nvSpPr>
        <p:spPr>
          <a:xfrm>
            <a:off x="5778500" y="1143000"/>
            <a:ext cx="3175000" cy="892552"/>
          </a:xfrm>
          <a:prstGeom prst="rect">
            <a:avLst/>
          </a:prstGeom>
          <a:solidFill>
            <a:srgbClr val="F0F0F0"/>
          </a:solidFill>
          <a:ln>
            <a:solidFill>
              <a:prstClr val="black"/>
            </a:solidFill>
          </a:ln>
        </p:spPr>
        <p:txBody>
          <a:bodyPr vert="horz" rtlCol="0">
            <a:spAutoFit/>
          </a:bodyPr>
          <a:lstStyle/>
          <a:p>
            <a:r>
              <a:rPr lang="en-US" sz="1300">
                <a:latin typeface="Consolas" panose="020B0609020204030204" pitchFamily="49" charset="0"/>
              </a:rPr>
              <a:t>const score =</a:t>
            </a:r>
          </a:p>
          <a:p>
            <a:r>
              <a:rPr lang="en-US" sz="1300">
                <a:latin typeface="Consolas" panose="020B0609020204030204" pitchFamily="49" charset="0"/>
              </a:rPr>
              <a:t>  0.5 * frequency +</a:t>
            </a:r>
          </a:p>
          <a:p>
            <a:r>
              <a:rPr lang="en-US" sz="1300">
                <a:latin typeface="Consolas" panose="020B0609020204030204" pitchFamily="49" charset="0"/>
              </a:rPr>
              <a:t>  0.3 * positionalProbability +</a:t>
            </a:r>
          </a:p>
          <a:p>
            <a:r>
              <a:rPr lang="en-US" sz="1300">
                <a:latin typeface="Consolas" panose="020B0609020204030204" pitchFamily="49" charset="0"/>
              </a:rPr>
              <a:t>  0.2 * eliminationPower</a:t>
            </a:r>
          </a:p>
        </p:txBody>
      </p:sp>
    </p:spTree>
    <p:extLst>
      <p:ext uri="{BB962C8B-B14F-4D97-AF65-F5344CB8AC3E}">
        <p14:creationId xmlns:p14="http://schemas.microsoft.com/office/powerpoint/2010/main" val="274315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D04273-90D7-2AE0-2F5F-DA9E1CE2D4AD}"/>
              </a:ext>
            </a:extLst>
          </p:cNvPr>
          <p:cNvSpPr txBox="1"/>
          <p:nvPr/>
        </p:nvSpPr>
        <p:spPr>
          <a:xfrm>
            <a:off x="381000" y="2540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Hard: Shannon Entropy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6A0F0-BA66-A4F0-A994-0448F11238FD}"/>
              </a:ext>
            </a:extLst>
          </p:cNvPr>
          <p:cNvSpPr txBox="1"/>
          <p:nvPr/>
        </p:nvSpPr>
        <p:spPr>
          <a:xfrm>
            <a:off x="508000" y="1016000"/>
            <a:ext cx="5080000" cy="34778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• Hard mode chooses the letter that gives the most information, not just the most matches.</a:t>
            </a:r>
          </a:p>
          <a:p>
            <a:r>
              <a:rPr lang="en-US" sz="2000"/>
              <a:t>• It simulates each possible letter and groups candidate words by the pattern that guess would reveal.</a:t>
            </a:r>
          </a:p>
          <a:p>
            <a:r>
              <a:rPr lang="en-US" sz="2000"/>
              <a:t>• Example: with STONE, STORE, SHORE, SCORE, the letter T splits the candidates into two even groups, which is more informative than a letter like C.</a:t>
            </a:r>
          </a:p>
          <a:p>
            <a:r>
              <a:rPr lang="en-US" sz="2000"/>
              <a:t>• Why: the best guess is the one that reduces uncertainty the fastest on average.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2CCFF-D01F-EBD3-6CA0-10BA2BBF4657}"/>
              </a:ext>
            </a:extLst>
          </p:cNvPr>
          <p:cNvSpPr txBox="1"/>
          <p:nvPr/>
        </p:nvSpPr>
        <p:spPr>
          <a:xfrm>
            <a:off x="5778500" y="1143000"/>
            <a:ext cx="3175000" cy="1892826"/>
          </a:xfrm>
          <a:prstGeom prst="rect">
            <a:avLst/>
          </a:prstGeom>
          <a:solidFill>
            <a:srgbClr val="F0F0F0"/>
          </a:solidFill>
          <a:ln>
            <a:solidFill>
              <a:prstClr val="black"/>
            </a:solidFill>
          </a:ln>
        </p:spPr>
        <p:txBody>
          <a:bodyPr vert="horz" rtlCol="0">
            <a:spAutoFit/>
          </a:bodyPr>
          <a:lstStyle/>
          <a:p>
            <a:r>
              <a:rPr lang="en-US" sz="1300">
                <a:latin typeface="Consolas" panose="020B0609020204030204" pitchFamily="49" charset="0"/>
              </a:rPr>
              <a:t>for (const word of candidates) {</a:t>
            </a:r>
          </a:p>
          <a:p>
            <a:r>
              <a:rPr lang="en-US" sz="1300">
                <a:latin typeface="Consolas" panose="020B0609020204030204" pitchFamily="49" charset="0"/>
              </a:rPr>
              <a:t>  let patternMatch = ''</a:t>
            </a:r>
          </a:p>
          <a:p>
            <a:r>
              <a:rPr lang="en-US" sz="1300">
                <a:latin typeface="Consolas" panose="020B0609020204030204" pitchFamily="49" charset="0"/>
              </a:rPr>
              <a:t>  for (let i = 0; i &lt; wordLen; i++) {</a:t>
            </a:r>
          </a:p>
          <a:p>
            <a:r>
              <a:rPr lang="en-US" sz="1300">
                <a:latin typeface="Consolas" panose="020B0609020204030204" pitchFamily="49" charset="0"/>
              </a:rPr>
              <a:t>    patternMatch += (word[i] === letter ? '1' : '0')</a:t>
            </a:r>
          </a:p>
          <a:p>
            <a:r>
              <a:rPr lang="en-US" sz="1300">
                <a:latin typeface="Consolas" panose="020B0609020204030204" pitchFamily="49" charset="0"/>
              </a:rPr>
              <a:t>  }</a:t>
            </a:r>
          </a:p>
          <a:p>
            <a:r>
              <a:rPr lang="en-US" sz="1300">
                <a:latin typeface="Consolas" panose="020B0609020204030204" pitchFamily="49" charset="0"/>
              </a:rPr>
              <a:t>}</a:t>
            </a:r>
          </a:p>
          <a:p>
            <a:r>
              <a:rPr lang="en-US" sz="1300">
                <a:latin typeface="Consolas" panose="020B0609020204030204" pitchFamily="49" charset="0"/>
              </a:rPr>
              <a:t>entropy -= p * Math.log2(p)</a:t>
            </a:r>
          </a:p>
        </p:txBody>
      </p:sp>
    </p:spTree>
    <p:extLst>
      <p:ext uri="{BB962C8B-B14F-4D97-AF65-F5344CB8AC3E}">
        <p14:creationId xmlns:p14="http://schemas.microsoft.com/office/powerpoint/2010/main" val="81728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Hangman AI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Salim Khan</dc:creator>
  <cp:lastModifiedBy>Salim Khan</cp:lastModifiedBy>
  <cp:revision>2</cp:revision>
  <dcterms:created xsi:type="dcterms:W3CDTF">2026-05-12T05:29:44Z</dcterms:created>
  <dcterms:modified xsi:type="dcterms:W3CDTF">2026-05-12T05:33:21Z</dcterms:modified>
</cp:coreProperties>
</file>