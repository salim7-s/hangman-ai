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31.svg" ContentType="image/svg+xml"/>
  <Override PartName="/ppt/media/image33.svg" ContentType="image/svg+xml"/>
  <Override PartName="/ppt/media/image3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Inter Bold" charset="1" panose="02000503000000020004"/>
      <p:regular r:id="rId22"/>
    </p:embeddedFont>
    <p:embeddedFont>
      <p:font typeface="Calibri (MS) Bold" charset="1" panose="020F0702030404030204"/>
      <p:regular r:id="rId23"/>
    </p:embeddedFont>
    <p:embeddedFont>
      <p:font typeface="Inter" charset="1" panose="02000503000000020004"/>
      <p:regular r:id="rId25"/>
    </p:embeddedFont>
    <p:embeddedFont>
      <p:font typeface="Tahoma Bold" charset="1" panose="020B0804030504040204"/>
      <p:regular r:id="rId28"/>
    </p:embeddedFont>
    <p:embeddedFont>
      <p:font typeface="Arimo" charset="1" panose="020B0604020202020204"/>
      <p:regular r:id="rId29"/>
    </p:embeddedFont>
    <p:embeddedFont>
      <p:font typeface="Arimo Bold" charset="1" panose="020B070402020202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notesMaster" Target="notesMasters/notesMaster1.xml"/><Relationship Id="rId20" Type="http://schemas.openxmlformats.org/officeDocument/2006/relationships/theme" Target="theme/theme2.xml"/><Relationship Id="rId21" Type="http://schemas.openxmlformats.org/officeDocument/2006/relationships/notesSlide" Target="notesSlides/notesSlide1.xml"/><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notesSlide" Target="notesSlides/notesSlide2.xml"/><Relationship Id="rId25" Type="http://schemas.openxmlformats.org/officeDocument/2006/relationships/font" Target="fonts/font25.fntdata"/><Relationship Id="rId26" Type="http://schemas.openxmlformats.org/officeDocument/2006/relationships/notesSlide" Target="notesSlides/notesSlide3.xml"/><Relationship Id="rId27" Type="http://schemas.openxmlformats.org/officeDocument/2006/relationships/notesSlide" Target="notesSlides/notesSlide4.xml"/><Relationship Id="rId28" Type="http://schemas.openxmlformats.org/officeDocument/2006/relationships/font" Target="fonts/font28.fntdata"/><Relationship Id="rId29" Type="http://schemas.openxmlformats.org/officeDocument/2006/relationships/font" Target="fonts/font29.fntdata"/><Relationship Id="rId30" Type="http://schemas.openxmlformats.org/officeDocument/2006/relationships/font" Target="fonts/font30.fntdata"/><Relationship Id="rId31" Type="http://schemas.openxmlformats.org/officeDocument/2006/relationships/notesSlide" Target="notesSlides/notesSlide5.xml"/><Relationship Id="rId32" Type="http://schemas.openxmlformats.org/officeDocument/2006/relationships/notesSlide" Target="notesSlides/notesSlide6.xml"/><Relationship Id="rId33" Type="http://schemas.openxmlformats.org/officeDocument/2006/relationships/notesSlide" Target="notesSlides/notesSlide7.xml"/><Relationship Id="rId34" Type="http://schemas.openxmlformats.org/officeDocument/2006/relationships/notesSlide" Target="notesSlides/notesSlide8.xml"/><Relationship Id="rId35" Type="http://schemas.openxmlformats.org/officeDocument/2006/relationships/notesSlide" Target="notesSlides/notesSlide9.xml"/><Relationship Id="rId36" Type="http://schemas.openxmlformats.org/officeDocument/2006/relationships/notesSlide" Target="notesSlides/notesSlide10.xml"/><Relationship Id="rId37" Type="http://schemas.openxmlformats.org/officeDocument/2006/relationships/notesSlide" Target="notesSlides/notesSlide11.xml"/><Relationship Id="rId38" Type="http://schemas.openxmlformats.org/officeDocument/2006/relationships/notesSlide" Target="notesSlides/notesSlide12.xml"/><Relationship Id="rId39" Type="http://schemas.openxmlformats.org/officeDocument/2006/relationships/notesSlide" Target="notesSlides/not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gamma.app/?utm_source=made-with-gamma" TargetMode="External"/><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3.svg"/><Relationship Id="rId5" Type="http://schemas.openxmlformats.org/officeDocument/2006/relationships/image" Target="../media/image14.png"/><Relationship Id="rId6" Type="http://schemas.openxmlformats.org/officeDocument/2006/relationships/image" Target="../media/image15.svg"/><Relationship Id="rId7" Type="http://schemas.openxmlformats.org/officeDocument/2006/relationships/image" Target="../media/image16.png"/><Relationship Id="rId8" Type="http://schemas.openxmlformats.org/officeDocument/2006/relationships/image" Target="../media/image17.svg"/><Relationship Id="rId9" Type="http://schemas.openxmlformats.org/officeDocument/2006/relationships/image" Target="../media/image18.png"/><Relationship Id="rId10" Type="http://schemas.openxmlformats.org/officeDocument/2006/relationships/image" Target="../media/image19.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4.png"/><Relationship Id="rId8" Type="http://schemas.openxmlformats.org/officeDocument/2006/relationships/image" Target="../media/image25.svg"/><Relationship Id="rId9" Type="http://schemas.openxmlformats.org/officeDocument/2006/relationships/image" Target="../media/image26.png"/><Relationship Id="rId10" Type="http://schemas.openxmlformats.org/officeDocument/2006/relationships/image" Target="../media/image27.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gamma.app/?utm_source=made-with-gamma" TargetMode="External"/><Relationship Id="rId4" Type="http://schemas.openxmlformats.org/officeDocument/2006/relationships/image" Target="../media/image3.png"/><Relationship Id="rId5"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31.svg"/><Relationship Id="rId5" Type="http://schemas.openxmlformats.org/officeDocument/2006/relationships/image" Target="../media/image32.png"/><Relationship Id="rId6" Type="http://schemas.openxmlformats.org/officeDocument/2006/relationships/image" Target="../media/image33.svg"/><Relationship Id="rId7" Type="http://schemas.openxmlformats.org/officeDocument/2006/relationships/image" Target="../media/image34.png"/><Relationship Id="rId8" Type="http://schemas.openxmlformats.org/officeDocument/2006/relationships/image" Target="../media/image35.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250898"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50238" y="3335836"/>
            <a:ext cx="9445523" cy="1800520"/>
          </a:xfrm>
          <a:prstGeom prst="rect">
            <a:avLst/>
          </a:prstGeom>
        </p:spPr>
        <p:txBody>
          <a:bodyPr anchor="t" rtlCol="false" tIns="0" lIns="0" bIns="0" rIns="0">
            <a:spAutoFit/>
          </a:bodyPr>
          <a:lstStyle/>
          <a:p>
            <a:pPr algn="l">
              <a:lnSpc>
                <a:spcPts val="6937"/>
              </a:lnSpc>
            </a:pPr>
            <a:r>
              <a:rPr lang="en-US" sz="5562" b="true">
                <a:solidFill>
                  <a:srgbClr val="000000"/>
                </a:solidFill>
                <a:latin typeface="Inter Bold"/>
                <a:ea typeface="Inter Bold"/>
                <a:cs typeface="Inter Bold"/>
                <a:sym typeface="Inter Bold"/>
              </a:rPr>
              <a:t>Hangman Game using Artificial Intelligence</a:t>
            </a:r>
          </a:p>
        </p:txBody>
      </p:sp>
      <p:sp>
        <p:nvSpPr>
          <p:cNvPr name="TextBox 9" id="9"/>
          <p:cNvSpPr txBox="true"/>
          <p:nvPr/>
        </p:nvSpPr>
        <p:spPr>
          <a:xfrm rot="0">
            <a:off x="7850238" y="5513937"/>
            <a:ext cx="9445523" cy="1408509"/>
          </a:xfrm>
          <a:prstGeom prst="rect">
            <a:avLst/>
          </a:prstGeom>
        </p:spPr>
        <p:txBody>
          <a:bodyPr anchor="t" rtlCol="false" tIns="0" lIns="0" bIns="0" rIns="0">
            <a:spAutoFit/>
          </a:bodyPr>
          <a:lstStyle/>
          <a:p>
            <a:pPr algn="l">
              <a:lnSpc>
                <a:spcPts val="2699"/>
              </a:lnSpc>
            </a:pPr>
            <a:r>
              <a:rPr lang="en-US" b="true" sz="2249" spc="-56">
                <a:solidFill>
                  <a:srgbClr val="FF0000"/>
                </a:solidFill>
                <a:latin typeface="Calibri (MS) Bold"/>
                <a:ea typeface="Calibri (MS) Bold"/>
                <a:cs typeface="Calibri (MS) Bold"/>
                <a:sym typeface="Calibri (MS) Bold"/>
              </a:rPr>
              <a:t>Project Members</a:t>
            </a:r>
            <a:r>
              <a:rPr lang="en-US" b="true" sz="2249" spc="-56">
                <a:solidFill>
                  <a:srgbClr val="262424"/>
                </a:solidFill>
                <a:latin typeface="Calibri (MS) Bold"/>
                <a:ea typeface="Calibri (MS) Bold"/>
                <a:cs typeface="Calibri (MS) Bold"/>
                <a:sym typeface="Calibri (MS) Bold"/>
              </a:rPr>
              <a:t> : Nikshita Harmalkar  23CE241</a:t>
            </a:r>
          </a:p>
          <a:p>
            <a:pPr algn="l">
              <a:lnSpc>
                <a:spcPts val="2699"/>
              </a:lnSpc>
            </a:pPr>
            <a:r>
              <a:rPr lang="en-US" b="true" sz="2249" spc="-56">
                <a:solidFill>
                  <a:srgbClr val="262424"/>
                </a:solidFill>
                <a:latin typeface="Calibri (MS) Bold"/>
                <a:ea typeface="Calibri (MS) Bold"/>
                <a:cs typeface="Calibri (MS) Bold"/>
                <a:sym typeface="Calibri (MS) Bold"/>
              </a:rPr>
              <a:t>                                   Salim Khan                    23CE256</a:t>
            </a:r>
          </a:p>
          <a:p>
            <a:pPr algn="l">
              <a:lnSpc>
                <a:spcPts val="2699"/>
              </a:lnSpc>
            </a:pPr>
          </a:p>
          <a:p>
            <a:pPr algn="l">
              <a:lnSpc>
                <a:spcPts val="2699"/>
              </a:lnSpc>
            </a:pPr>
            <a:r>
              <a:rPr lang="en-US" b="true" sz="2249" spc="-31">
                <a:solidFill>
                  <a:srgbClr val="FF0000"/>
                </a:solidFill>
                <a:latin typeface="Calibri (MS) Bold"/>
                <a:ea typeface="Calibri (MS) Bold"/>
                <a:cs typeface="Calibri (MS) Bold"/>
                <a:sym typeface="Calibri (MS) Bold"/>
              </a:rPr>
              <a:t>Course</a:t>
            </a:r>
            <a:r>
              <a:rPr lang="en-US" b="true" sz="2249" spc="-31">
                <a:solidFill>
                  <a:srgbClr val="262424"/>
                </a:solidFill>
                <a:latin typeface="Calibri (MS) Bold"/>
                <a:ea typeface="Calibri (MS) Bold"/>
                <a:cs typeface="Calibri (MS) Bold"/>
                <a:sym typeface="Calibri (MS) Bold"/>
              </a:rPr>
              <a:t>: Artificial Intelligence </a:t>
            </a:r>
          </a:p>
          <a:p>
            <a:pPr algn="l">
              <a:lnSpc>
                <a:spcPts val="3562"/>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846534" y="642195"/>
            <a:ext cx="7286330" cy="770630"/>
          </a:xfrm>
          <a:prstGeom prst="rect">
            <a:avLst/>
          </a:prstGeom>
        </p:spPr>
        <p:txBody>
          <a:bodyPr anchor="t" rtlCol="false" tIns="0" lIns="0" bIns="0" rIns="0">
            <a:spAutoFit/>
          </a:bodyPr>
          <a:lstStyle/>
          <a:p>
            <a:pPr algn="l">
              <a:lnSpc>
                <a:spcPts val="5874"/>
              </a:lnSpc>
            </a:pPr>
            <a:r>
              <a:rPr lang="en-US" sz="4687" b="true">
                <a:solidFill>
                  <a:srgbClr val="000000"/>
                </a:solidFill>
                <a:latin typeface="Inter Bold"/>
                <a:ea typeface="Inter Bold"/>
                <a:cs typeface="Inter Bold"/>
                <a:sym typeface="Inter Bold"/>
              </a:rPr>
              <a:t>Introduction to Hangman</a:t>
            </a:r>
          </a:p>
        </p:txBody>
      </p:sp>
      <p:sp>
        <p:nvSpPr>
          <p:cNvPr name="TextBox 7" id="7"/>
          <p:cNvSpPr txBox="true"/>
          <p:nvPr/>
        </p:nvSpPr>
        <p:spPr>
          <a:xfrm rot="0">
            <a:off x="846534" y="2405644"/>
            <a:ext cx="5426716" cy="3263370"/>
          </a:xfrm>
          <a:prstGeom prst="rect">
            <a:avLst/>
          </a:prstGeom>
        </p:spPr>
        <p:txBody>
          <a:bodyPr anchor="t" rtlCol="false" tIns="0" lIns="0" bIns="0" rIns="0">
            <a:spAutoFit/>
          </a:bodyPr>
          <a:lstStyle/>
          <a:p>
            <a:pPr algn="l">
              <a:lnSpc>
                <a:spcPts val="2749"/>
              </a:lnSpc>
            </a:pPr>
            <a:r>
              <a:rPr lang="en-US" sz="1874">
                <a:solidFill>
                  <a:srgbClr val="272525"/>
                </a:solidFill>
                <a:latin typeface="Inter"/>
                <a:ea typeface="Inter"/>
                <a:cs typeface="Inter"/>
                <a:sym typeface="Inter"/>
              </a:rPr>
              <a:t>Hangman is a classic word-guessing game where players attempt to discover a hidden word by guessing individual letters. The player has a limited number of incorrect guesses before the hangman is drawn.</a:t>
            </a:r>
          </a:p>
        </p:txBody>
      </p:sp>
      <p:sp>
        <p:nvSpPr>
          <p:cNvPr name="TextBox 8" id="8"/>
          <p:cNvSpPr txBox="true"/>
          <p:nvPr/>
        </p:nvSpPr>
        <p:spPr>
          <a:xfrm rot="0">
            <a:off x="846534" y="4366898"/>
            <a:ext cx="5426716" cy="3263370"/>
          </a:xfrm>
          <a:prstGeom prst="rect">
            <a:avLst/>
          </a:prstGeom>
        </p:spPr>
        <p:txBody>
          <a:bodyPr anchor="t" rtlCol="false" tIns="0" lIns="0" bIns="0" rIns="0">
            <a:spAutoFit/>
          </a:bodyPr>
          <a:lstStyle/>
          <a:p>
            <a:pPr algn="l">
              <a:lnSpc>
                <a:spcPts val="2749"/>
              </a:lnSpc>
            </a:pPr>
            <a:r>
              <a:rPr lang="en-US" sz="1874" b="true">
                <a:solidFill>
                  <a:srgbClr val="272525"/>
                </a:solidFill>
                <a:latin typeface="Inter Bold"/>
                <a:ea typeface="Inter Bold"/>
                <a:cs typeface="Inter Bold"/>
                <a:sym typeface="Inter Bold"/>
              </a:rPr>
              <a:t>Traditional Gameplay:</a:t>
            </a:r>
            <a:r>
              <a:rPr lang="en-US" sz="1874">
                <a:solidFill>
                  <a:srgbClr val="272525"/>
                </a:solidFill>
                <a:latin typeface="Inter"/>
                <a:ea typeface="Inter"/>
                <a:cs typeface="Inter"/>
                <a:sym typeface="Inter"/>
              </a:rPr>
              <a:t> A word is selected and represented by blank spaces. Players guess letters one at a time. Correct guesses reveal letter positions, while incorrect guesses bring the player closer to losing.</a:t>
            </a:r>
          </a:p>
        </p:txBody>
      </p:sp>
      <p:grpSp>
        <p:nvGrpSpPr>
          <p:cNvPr name="Group 9" id="9"/>
          <p:cNvGrpSpPr/>
          <p:nvPr/>
        </p:nvGrpSpPr>
        <p:grpSpPr>
          <a:xfrm rot="0">
            <a:off x="6869459" y="1948310"/>
            <a:ext cx="10581237" cy="7625058"/>
            <a:chOff x="0" y="0"/>
            <a:chExt cx="14108316" cy="10166744"/>
          </a:xfrm>
        </p:grpSpPr>
        <p:sp>
          <p:nvSpPr>
            <p:cNvPr name="Freeform 10" id="10" descr="preencoded.png"/>
            <p:cNvSpPr/>
            <p:nvPr/>
          </p:nvSpPr>
          <p:spPr>
            <a:xfrm flipH="false" flipV="false" rot="0">
              <a:off x="0" y="0"/>
              <a:ext cx="14108303" cy="10166731"/>
            </a:xfrm>
            <a:custGeom>
              <a:avLst/>
              <a:gdLst/>
              <a:ahLst/>
              <a:cxnLst/>
              <a:rect r="r" b="b" t="t" l="l"/>
              <a:pathLst>
                <a:path h="10166731" w="14108303">
                  <a:moveTo>
                    <a:pt x="0" y="0"/>
                  </a:moveTo>
                  <a:lnTo>
                    <a:pt x="14108303" y="0"/>
                  </a:lnTo>
                  <a:lnTo>
                    <a:pt x="14108303" y="10166731"/>
                  </a:lnTo>
                  <a:lnTo>
                    <a:pt x="0" y="10166731"/>
                  </a:lnTo>
                  <a:lnTo>
                    <a:pt x="0" y="0"/>
                  </a:lnTo>
                  <a:close/>
                </a:path>
              </a:pathLst>
            </a:custGeom>
            <a:blipFill>
              <a:blip r:embed="rId3"/>
              <a:stretch>
                <a:fillRect l="0" t="-24" r="0" b="-24"/>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068288" y="0"/>
            <a:ext cx="7219712" cy="10287000"/>
            <a:chOff x="0" y="0"/>
            <a:chExt cx="9626282" cy="13716000"/>
          </a:xfrm>
        </p:grpSpPr>
        <p:sp>
          <p:nvSpPr>
            <p:cNvPr name="Freeform 9" id="9" descr="preencoded.png"/>
            <p:cNvSpPr/>
            <p:nvPr/>
          </p:nvSpPr>
          <p:spPr>
            <a:xfrm flipH="false" flipV="false" rot="0">
              <a:off x="0" y="0"/>
              <a:ext cx="9626219" cy="13716000"/>
            </a:xfrm>
            <a:custGeom>
              <a:avLst/>
              <a:gdLst/>
              <a:ahLst/>
              <a:cxnLst/>
              <a:rect r="r" b="b" t="t" l="l"/>
              <a:pathLst>
                <a:path h="13716000" w="9626219">
                  <a:moveTo>
                    <a:pt x="0" y="0"/>
                  </a:moveTo>
                  <a:lnTo>
                    <a:pt x="9626219" y="0"/>
                  </a:lnTo>
                  <a:lnTo>
                    <a:pt x="9626219" y="13716000"/>
                  </a:lnTo>
                  <a:lnTo>
                    <a:pt x="0" y="13716000"/>
                  </a:lnTo>
                  <a:lnTo>
                    <a:pt x="0" y="0"/>
                  </a:lnTo>
                  <a:close/>
                </a:path>
              </a:pathLst>
            </a:custGeom>
            <a:blipFill>
              <a:blip r:embed="rId5"/>
              <a:stretch>
                <a:fillRect l="0" t="-2637" r="0" b="-2637"/>
              </a:stretch>
            </a:blipFill>
          </p:spPr>
        </p:sp>
      </p:grpSp>
      <p:sp>
        <p:nvSpPr>
          <p:cNvPr name="TextBox 10" id="10"/>
          <p:cNvSpPr txBox="true"/>
          <p:nvPr/>
        </p:nvSpPr>
        <p:spPr>
          <a:xfrm rot="0">
            <a:off x="992238" y="1530696"/>
            <a:ext cx="7088238" cy="914552"/>
          </a:xfrm>
          <a:prstGeom prst="rect">
            <a:avLst/>
          </a:prstGeom>
        </p:spPr>
        <p:txBody>
          <a:bodyPr anchor="t" rtlCol="false" tIns="0" lIns="0" bIns="0" rIns="0">
            <a:spAutoFit/>
          </a:bodyPr>
          <a:lstStyle/>
          <a:p>
            <a:pPr algn="l">
              <a:lnSpc>
                <a:spcPts val="6937"/>
              </a:lnSpc>
            </a:pPr>
            <a:r>
              <a:rPr lang="en-US" sz="5562" b="true">
                <a:solidFill>
                  <a:srgbClr val="000000"/>
                </a:solidFill>
                <a:latin typeface="Inter Bold"/>
                <a:ea typeface="Inter Bold"/>
                <a:cs typeface="Inter Bold"/>
                <a:sym typeface="Inter Bold"/>
              </a:rPr>
              <a:t>Project Overview</a:t>
            </a:r>
          </a:p>
        </p:txBody>
      </p:sp>
      <p:grpSp>
        <p:nvGrpSpPr>
          <p:cNvPr name="Group 11" id="11"/>
          <p:cNvGrpSpPr/>
          <p:nvPr/>
        </p:nvGrpSpPr>
        <p:grpSpPr>
          <a:xfrm rot="0">
            <a:off x="987476" y="2865682"/>
            <a:ext cx="4590459" cy="3476777"/>
            <a:chOff x="0" y="0"/>
            <a:chExt cx="6120613" cy="4635703"/>
          </a:xfrm>
        </p:grpSpPr>
        <p:sp>
          <p:nvSpPr>
            <p:cNvPr name="Freeform 12" id="12"/>
            <p:cNvSpPr/>
            <p:nvPr/>
          </p:nvSpPr>
          <p:spPr>
            <a:xfrm flipH="false" flipV="false" rot="0">
              <a:off x="6350" y="6350"/>
              <a:ext cx="6107938" cy="4622927"/>
            </a:xfrm>
            <a:custGeom>
              <a:avLst/>
              <a:gdLst/>
              <a:ahLst/>
              <a:cxnLst/>
              <a:rect r="r" b="b" t="t" l="l"/>
              <a:pathLst>
                <a:path h="4622927" w="6107938">
                  <a:moveTo>
                    <a:pt x="0" y="158750"/>
                  </a:moveTo>
                  <a:cubicBezTo>
                    <a:pt x="0" y="71120"/>
                    <a:pt x="71120" y="0"/>
                    <a:pt x="158877" y="0"/>
                  </a:cubicBezTo>
                  <a:lnTo>
                    <a:pt x="5949061" y="0"/>
                  </a:lnTo>
                  <a:cubicBezTo>
                    <a:pt x="6036818" y="0"/>
                    <a:pt x="6107938" y="71120"/>
                    <a:pt x="6107938" y="158750"/>
                  </a:cubicBezTo>
                  <a:lnTo>
                    <a:pt x="6107938" y="4464177"/>
                  </a:lnTo>
                  <a:cubicBezTo>
                    <a:pt x="6107938" y="4551934"/>
                    <a:pt x="6036818" y="4622927"/>
                    <a:pt x="5949061" y="4622927"/>
                  </a:cubicBezTo>
                  <a:lnTo>
                    <a:pt x="158877" y="4622927"/>
                  </a:lnTo>
                  <a:cubicBezTo>
                    <a:pt x="71120" y="4623054"/>
                    <a:pt x="0" y="4551934"/>
                    <a:pt x="0" y="4464177"/>
                  </a:cubicBezTo>
                  <a:close/>
                </a:path>
              </a:pathLst>
            </a:custGeom>
            <a:solidFill>
              <a:srgbClr val="DADBF1"/>
            </a:solidFill>
          </p:spPr>
        </p:sp>
        <p:sp>
          <p:nvSpPr>
            <p:cNvPr name="Freeform 13" id="13"/>
            <p:cNvSpPr/>
            <p:nvPr/>
          </p:nvSpPr>
          <p:spPr>
            <a:xfrm flipH="false" flipV="false" rot="0">
              <a:off x="0" y="0"/>
              <a:ext cx="6120638" cy="4635627"/>
            </a:xfrm>
            <a:custGeom>
              <a:avLst/>
              <a:gdLst/>
              <a:ahLst/>
              <a:cxnLst/>
              <a:rect r="r" b="b" t="t" l="l"/>
              <a:pathLst>
                <a:path h="4635627" w="6120638">
                  <a:moveTo>
                    <a:pt x="0" y="165100"/>
                  </a:moveTo>
                  <a:cubicBezTo>
                    <a:pt x="0" y="73914"/>
                    <a:pt x="74041" y="0"/>
                    <a:pt x="165227" y="0"/>
                  </a:cubicBezTo>
                  <a:lnTo>
                    <a:pt x="5955411" y="0"/>
                  </a:lnTo>
                  <a:lnTo>
                    <a:pt x="5955411" y="6350"/>
                  </a:lnTo>
                  <a:lnTo>
                    <a:pt x="5955411" y="0"/>
                  </a:lnTo>
                  <a:cubicBezTo>
                    <a:pt x="6046724" y="0"/>
                    <a:pt x="6120638" y="73914"/>
                    <a:pt x="6120638" y="165100"/>
                  </a:cubicBezTo>
                  <a:lnTo>
                    <a:pt x="6114288" y="165100"/>
                  </a:lnTo>
                  <a:lnTo>
                    <a:pt x="6120638" y="165100"/>
                  </a:lnTo>
                  <a:lnTo>
                    <a:pt x="6120638" y="4470527"/>
                  </a:lnTo>
                  <a:lnTo>
                    <a:pt x="6114288" y="4470527"/>
                  </a:lnTo>
                  <a:lnTo>
                    <a:pt x="6120638" y="4470527"/>
                  </a:lnTo>
                  <a:cubicBezTo>
                    <a:pt x="6120638" y="4561713"/>
                    <a:pt x="6046597" y="4635627"/>
                    <a:pt x="5955411" y="4635627"/>
                  </a:cubicBezTo>
                  <a:lnTo>
                    <a:pt x="5955411" y="4629277"/>
                  </a:lnTo>
                  <a:lnTo>
                    <a:pt x="5955411" y="4635627"/>
                  </a:lnTo>
                  <a:lnTo>
                    <a:pt x="165227" y="4635627"/>
                  </a:lnTo>
                  <a:lnTo>
                    <a:pt x="165227" y="4629277"/>
                  </a:lnTo>
                  <a:lnTo>
                    <a:pt x="165227" y="4635627"/>
                  </a:lnTo>
                  <a:cubicBezTo>
                    <a:pt x="73914" y="4635627"/>
                    <a:pt x="0" y="4561713"/>
                    <a:pt x="0" y="4470527"/>
                  </a:cubicBezTo>
                  <a:lnTo>
                    <a:pt x="0" y="165100"/>
                  </a:lnTo>
                  <a:lnTo>
                    <a:pt x="6350" y="165100"/>
                  </a:lnTo>
                  <a:lnTo>
                    <a:pt x="0" y="165100"/>
                  </a:lnTo>
                  <a:moveTo>
                    <a:pt x="12700" y="165100"/>
                  </a:moveTo>
                  <a:lnTo>
                    <a:pt x="12700" y="4470527"/>
                  </a:lnTo>
                  <a:lnTo>
                    <a:pt x="6350" y="4470527"/>
                  </a:lnTo>
                  <a:lnTo>
                    <a:pt x="12700" y="4470527"/>
                  </a:lnTo>
                  <a:cubicBezTo>
                    <a:pt x="12700" y="4554728"/>
                    <a:pt x="81026" y="4622927"/>
                    <a:pt x="165227" y="4622927"/>
                  </a:cubicBezTo>
                  <a:lnTo>
                    <a:pt x="5955411" y="4622927"/>
                  </a:lnTo>
                  <a:cubicBezTo>
                    <a:pt x="6039612" y="4622927"/>
                    <a:pt x="6107938" y="4554728"/>
                    <a:pt x="6107938" y="4470527"/>
                  </a:cubicBezTo>
                  <a:lnTo>
                    <a:pt x="6107938" y="165100"/>
                  </a:lnTo>
                  <a:cubicBezTo>
                    <a:pt x="6107938" y="80899"/>
                    <a:pt x="6039612" y="12700"/>
                    <a:pt x="5955411" y="12700"/>
                  </a:cubicBezTo>
                  <a:lnTo>
                    <a:pt x="165227" y="12700"/>
                  </a:lnTo>
                  <a:lnTo>
                    <a:pt x="165227" y="6350"/>
                  </a:lnTo>
                  <a:lnTo>
                    <a:pt x="165227" y="12700"/>
                  </a:lnTo>
                  <a:cubicBezTo>
                    <a:pt x="81026" y="12700"/>
                    <a:pt x="12700" y="80899"/>
                    <a:pt x="12700" y="165100"/>
                  </a:cubicBezTo>
                  <a:close/>
                </a:path>
              </a:pathLst>
            </a:custGeom>
            <a:solidFill>
              <a:srgbClr val="C0C1D7"/>
            </a:solidFill>
          </p:spPr>
        </p:sp>
      </p:grpSp>
      <p:sp>
        <p:nvSpPr>
          <p:cNvPr name="TextBox 14" id="14"/>
          <p:cNvSpPr txBox="true"/>
          <p:nvPr/>
        </p:nvSpPr>
        <p:spPr>
          <a:xfrm rot="0">
            <a:off x="1285284" y="3144441"/>
            <a:ext cx="3544043" cy="461962"/>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Objective</a:t>
            </a:r>
          </a:p>
        </p:txBody>
      </p:sp>
      <p:sp>
        <p:nvSpPr>
          <p:cNvPr name="TextBox 15" id="15"/>
          <p:cNvSpPr txBox="true"/>
          <p:nvPr/>
        </p:nvSpPr>
        <p:spPr>
          <a:xfrm rot="0">
            <a:off x="1285284" y="3690785"/>
            <a:ext cx="3994842" cy="2353866"/>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Develop an AI system that intelligently guesses letters in Hangman using heuristic search algorithms rather than random selection</a:t>
            </a:r>
          </a:p>
        </p:txBody>
      </p:sp>
      <p:grpSp>
        <p:nvGrpSpPr>
          <p:cNvPr name="Group 16" id="16"/>
          <p:cNvGrpSpPr/>
          <p:nvPr/>
        </p:nvGrpSpPr>
        <p:grpSpPr>
          <a:xfrm rot="0">
            <a:off x="5851922" y="2865682"/>
            <a:ext cx="4590602" cy="3476777"/>
            <a:chOff x="0" y="0"/>
            <a:chExt cx="6120803" cy="4635703"/>
          </a:xfrm>
        </p:grpSpPr>
        <p:sp>
          <p:nvSpPr>
            <p:cNvPr name="Freeform 17" id="17"/>
            <p:cNvSpPr/>
            <p:nvPr/>
          </p:nvSpPr>
          <p:spPr>
            <a:xfrm flipH="false" flipV="false" rot="0">
              <a:off x="6350" y="6350"/>
              <a:ext cx="6108065" cy="4622927"/>
            </a:xfrm>
            <a:custGeom>
              <a:avLst/>
              <a:gdLst/>
              <a:ahLst/>
              <a:cxnLst/>
              <a:rect r="r" b="b" t="t" l="l"/>
              <a:pathLst>
                <a:path h="4622927" w="6108065">
                  <a:moveTo>
                    <a:pt x="0" y="158750"/>
                  </a:moveTo>
                  <a:cubicBezTo>
                    <a:pt x="0" y="71120"/>
                    <a:pt x="71120" y="0"/>
                    <a:pt x="158877" y="0"/>
                  </a:cubicBezTo>
                  <a:lnTo>
                    <a:pt x="5949188" y="0"/>
                  </a:lnTo>
                  <a:cubicBezTo>
                    <a:pt x="6036945" y="0"/>
                    <a:pt x="6108065" y="71120"/>
                    <a:pt x="6108065" y="158750"/>
                  </a:cubicBezTo>
                  <a:lnTo>
                    <a:pt x="6108065" y="4464177"/>
                  </a:lnTo>
                  <a:cubicBezTo>
                    <a:pt x="6108065" y="4551934"/>
                    <a:pt x="6036945" y="4622927"/>
                    <a:pt x="5949188" y="4622927"/>
                  </a:cubicBezTo>
                  <a:lnTo>
                    <a:pt x="158877" y="4622927"/>
                  </a:lnTo>
                  <a:cubicBezTo>
                    <a:pt x="71120" y="4623054"/>
                    <a:pt x="0" y="4551934"/>
                    <a:pt x="0" y="4464177"/>
                  </a:cubicBezTo>
                  <a:close/>
                </a:path>
              </a:pathLst>
            </a:custGeom>
            <a:solidFill>
              <a:srgbClr val="DADBF1"/>
            </a:solidFill>
          </p:spPr>
        </p:sp>
        <p:sp>
          <p:nvSpPr>
            <p:cNvPr name="Freeform 18" id="18"/>
            <p:cNvSpPr/>
            <p:nvPr/>
          </p:nvSpPr>
          <p:spPr>
            <a:xfrm flipH="false" flipV="false" rot="0">
              <a:off x="0" y="0"/>
              <a:ext cx="6120765" cy="4635627"/>
            </a:xfrm>
            <a:custGeom>
              <a:avLst/>
              <a:gdLst/>
              <a:ahLst/>
              <a:cxnLst/>
              <a:rect r="r" b="b" t="t" l="l"/>
              <a:pathLst>
                <a:path h="4635627" w="6120765">
                  <a:moveTo>
                    <a:pt x="0" y="165100"/>
                  </a:moveTo>
                  <a:cubicBezTo>
                    <a:pt x="0" y="73914"/>
                    <a:pt x="74041" y="0"/>
                    <a:pt x="165227" y="0"/>
                  </a:cubicBezTo>
                  <a:lnTo>
                    <a:pt x="5955538" y="0"/>
                  </a:lnTo>
                  <a:lnTo>
                    <a:pt x="5955538" y="6350"/>
                  </a:lnTo>
                  <a:lnTo>
                    <a:pt x="5955538" y="0"/>
                  </a:lnTo>
                  <a:cubicBezTo>
                    <a:pt x="6046851" y="0"/>
                    <a:pt x="6120765" y="73914"/>
                    <a:pt x="6120765" y="165100"/>
                  </a:cubicBezTo>
                  <a:lnTo>
                    <a:pt x="6114415" y="165100"/>
                  </a:lnTo>
                  <a:lnTo>
                    <a:pt x="6120765" y="165100"/>
                  </a:lnTo>
                  <a:lnTo>
                    <a:pt x="6120765" y="4470527"/>
                  </a:lnTo>
                  <a:lnTo>
                    <a:pt x="6114415" y="4470527"/>
                  </a:lnTo>
                  <a:lnTo>
                    <a:pt x="6120765" y="4470527"/>
                  </a:lnTo>
                  <a:cubicBezTo>
                    <a:pt x="6120765" y="4561713"/>
                    <a:pt x="6046724" y="4635627"/>
                    <a:pt x="5955538" y="4635627"/>
                  </a:cubicBezTo>
                  <a:lnTo>
                    <a:pt x="5955538" y="4629277"/>
                  </a:lnTo>
                  <a:lnTo>
                    <a:pt x="5955538" y="4635627"/>
                  </a:lnTo>
                  <a:lnTo>
                    <a:pt x="165227" y="4635627"/>
                  </a:lnTo>
                  <a:lnTo>
                    <a:pt x="165227" y="4629277"/>
                  </a:lnTo>
                  <a:lnTo>
                    <a:pt x="165227" y="4635627"/>
                  </a:lnTo>
                  <a:cubicBezTo>
                    <a:pt x="73914" y="4635627"/>
                    <a:pt x="0" y="4561713"/>
                    <a:pt x="0" y="4470527"/>
                  </a:cubicBezTo>
                  <a:lnTo>
                    <a:pt x="0" y="165100"/>
                  </a:lnTo>
                  <a:lnTo>
                    <a:pt x="6350" y="165100"/>
                  </a:lnTo>
                  <a:lnTo>
                    <a:pt x="0" y="165100"/>
                  </a:lnTo>
                  <a:moveTo>
                    <a:pt x="12700" y="165100"/>
                  </a:moveTo>
                  <a:lnTo>
                    <a:pt x="12700" y="4470527"/>
                  </a:lnTo>
                  <a:lnTo>
                    <a:pt x="6350" y="4470527"/>
                  </a:lnTo>
                  <a:lnTo>
                    <a:pt x="12700" y="4470527"/>
                  </a:lnTo>
                  <a:cubicBezTo>
                    <a:pt x="12700" y="4554728"/>
                    <a:pt x="81026" y="4622927"/>
                    <a:pt x="165227" y="4622927"/>
                  </a:cubicBezTo>
                  <a:lnTo>
                    <a:pt x="5955538" y="4622927"/>
                  </a:lnTo>
                  <a:cubicBezTo>
                    <a:pt x="6039739" y="4622927"/>
                    <a:pt x="6108065" y="4554728"/>
                    <a:pt x="6108065" y="4470527"/>
                  </a:cubicBezTo>
                  <a:lnTo>
                    <a:pt x="6108065" y="165100"/>
                  </a:lnTo>
                  <a:cubicBezTo>
                    <a:pt x="6108065" y="80899"/>
                    <a:pt x="6039739" y="12700"/>
                    <a:pt x="5955538" y="12700"/>
                  </a:cubicBezTo>
                  <a:lnTo>
                    <a:pt x="165227" y="12700"/>
                  </a:lnTo>
                  <a:lnTo>
                    <a:pt x="165227" y="6350"/>
                  </a:lnTo>
                  <a:lnTo>
                    <a:pt x="165227" y="12700"/>
                  </a:lnTo>
                  <a:cubicBezTo>
                    <a:pt x="81026" y="12700"/>
                    <a:pt x="12700" y="80899"/>
                    <a:pt x="12700" y="165100"/>
                  </a:cubicBezTo>
                  <a:close/>
                </a:path>
              </a:pathLst>
            </a:custGeom>
            <a:solidFill>
              <a:srgbClr val="C0C1D7"/>
            </a:solidFill>
          </p:spPr>
        </p:sp>
      </p:grpSp>
      <p:sp>
        <p:nvSpPr>
          <p:cNvPr name="TextBox 19" id="19"/>
          <p:cNvSpPr txBox="true"/>
          <p:nvPr/>
        </p:nvSpPr>
        <p:spPr>
          <a:xfrm rot="0">
            <a:off x="6149731" y="3144441"/>
            <a:ext cx="3544043" cy="461962"/>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Intelligent Guessing</a:t>
            </a:r>
          </a:p>
        </p:txBody>
      </p:sp>
      <p:sp>
        <p:nvSpPr>
          <p:cNvPr name="TextBox 20" id="20"/>
          <p:cNvSpPr txBox="true"/>
          <p:nvPr/>
        </p:nvSpPr>
        <p:spPr>
          <a:xfrm rot="0">
            <a:off x="6149731" y="3690785"/>
            <a:ext cx="3994995" cy="2353866"/>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The AI analyzes letter frequencies, word patterns, and remaining possibilities to make statistically optimal guesses</a:t>
            </a:r>
          </a:p>
        </p:txBody>
      </p:sp>
      <p:grpSp>
        <p:nvGrpSpPr>
          <p:cNvPr name="Group 21" id="21"/>
          <p:cNvGrpSpPr/>
          <p:nvPr/>
        </p:nvGrpSpPr>
        <p:grpSpPr>
          <a:xfrm rot="0">
            <a:off x="987476" y="6616456"/>
            <a:ext cx="9455048" cy="2115893"/>
            <a:chOff x="0" y="0"/>
            <a:chExt cx="12606731" cy="2821191"/>
          </a:xfrm>
        </p:grpSpPr>
        <p:sp>
          <p:nvSpPr>
            <p:cNvPr name="Freeform 22" id="22"/>
            <p:cNvSpPr/>
            <p:nvPr/>
          </p:nvSpPr>
          <p:spPr>
            <a:xfrm flipH="false" flipV="false" rot="0">
              <a:off x="6350" y="6350"/>
              <a:ext cx="12594082" cy="2808478"/>
            </a:xfrm>
            <a:custGeom>
              <a:avLst/>
              <a:gdLst/>
              <a:ahLst/>
              <a:cxnLst/>
              <a:rect r="r" b="b" t="t" l="l"/>
              <a:pathLst>
                <a:path h="2808478" w="12594082">
                  <a:moveTo>
                    <a:pt x="0" y="158750"/>
                  </a:moveTo>
                  <a:cubicBezTo>
                    <a:pt x="0" y="71120"/>
                    <a:pt x="71374" y="0"/>
                    <a:pt x="159385" y="0"/>
                  </a:cubicBezTo>
                  <a:lnTo>
                    <a:pt x="12434697" y="0"/>
                  </a:lnTo>
                  <a:cubicBezTo>
                    <a:pt x="12522708" y="0"/>
                    <a:pt x="12594082" y="71120"/>
                    <a:pt x="12594082" y="158750"/>
                  </a:cubicBezTo>
                  <a:lnTo>
                    <a:pt x="12594082" y="2649728"/>
                  </a:lnTo>
                  <a:cubicBezTo>
                    <a:pt x="12594082" y="2737485"/>
                    <a:pt x="12522708" y="2808478"/>
                    <a:pt x="12434697" y="2808478"/>
                  </a:cubicBezTo>
                  <a:lnTo>
                    <a:pt x="159385" y="2808478"/>
                  </a:lnTo>
                  <a:cubicBezTo>
                    <a:pt x="71374" y="2808478"/>
                    <a:pt x="0" y="2737358"/>
                    <a:pt x="0" y="2649728"/>
                  </a:cubicBezTo>
                  <a:close/>
                </a:path>
              </a:pathLst>
            </a:custGeom>
            <a:solidFill>
              <a:srgbClr val="DADBF1"/>
            </a:solidFill>
          </p:spPr>
        </p:sp>
        <p:sp>
          <p:nvSpPr>
            <p:cNvPr name="Freeform 23" id="23"/>
            <p:cNvSpPr/>
            <p:nvPr/>
          </p:nvSpPr>
          <p:spPr>
            <a:xfrm flipH="false" flipV="false" rot="0">
              <a:off x="0" y="0"/>
              <a:ext cx="12606782" cy="2821178"/>
            </a:xfrm>
            <a:custGeom>
              <a:avLst/>
              <a:gdLst/>
              <a:ahLst/>
              <a:cxnLst/>
              <a:rect r="r" b="b" t="t" l="l"/>
              <a:pathLst>
                <a:path h="2821178" w="12606782">
                  <a:moveTo>
                    <a:pt x="0" y="165100"/>
                  </a:moveTo>
                  <a:cubicBezTo>
                    <a:pt x="0" y="73914"/>
                    <a:pt x="74168" y="0"/>
                    <a:pt x="165735" y="0"/>
                  </a:cubicBezTo>
                  <a:lnTo>
                    <a:pt x="12441047" y="0"/>
                  </a:lnTo>
                  <a:lnTo>
                    <a:pt x="12441047" y="6350"/>
                  </a:lnTo>
                  <a:lnTo>
                    <a:pt x="12441047" y="0"/>
                  </a:lnTo>
                  <a:cubicBezTo>
                    <a:pt x="12532487" y="0"/>
                    <a:pt x="12606782" y="73914"/>
                    <a:pt x="12606782" y="165100"/>
                  </a:cubicBezTo>
                  <a:lnTo>
                    <a:pt x="12600432" y="165100"/>
                  </a:lnTo>
                  <a:lnTo>
                    <a:pt x="12606782" y="165100"/>
                  </a:lnTo>
                  <a:lnTo>
                    <a:pt x="12606782" y="2656078"/>
                  </a:lnTo>
                  <a:lnTo>
                    <a:pt x="12600432" y="2656078"/>
                  </a:lnTo>
                  <a:lnTo>
                    <a:pt x="12606782" y="2656078"/>
                  </a:lnTo>
                  <a:cubicBezTo>
                    <a:pt x="12606782" y="2747264"/>
                    <a:pt x="12532614" y="2821178"/>
                    <a:pt x="12441047" y="2821178"/>
                  </a:cubicBezTo>
                  <a:lnTo>
                    <a:pt x="12441047" y="2814828"/>
                  </a:lnTo>
                  <a:lnTo>
                    <a:pt x="12441047" y="2821178"/>
                  </a:lnTo>
                  <a:lnTo>
                    <a:pt x="165735" y="2821178"/>
                  </a:lnTo>
                  <a:lnTo>
                    <a:pt x="165735" y="2814828"/>
                  </a:lnTo>
                  <a:lnTo>
                    <a:pt x="165735" y="2821178"/>
                  </a:lnTo>
                  <a:cubicBezTo>
                    <a:pt x="74295" y="2821178"/>
                    <a:pt x="0" y="2747264"/>
                    <a:pt x="0" y="2656078"/>
                  </a:cubicBezTo>
                  <a:lnTo>
                    <a:pt x="0" y="165100"/>
                  </a:lnTo>
                  <a:lnTo>
                    <a:pt x="6350" y="165100"/>
                  </a:lnTo>
                  <a:lnTo>
                    <a:pt x="0" y="165100"/>
                  </a:lnTo>
                  <a:moveTo>
                    <a:pt x="12700" y="165100"/>
                  </a:moveTo>
                  <a:lnTo>
                    <a:pt x="12700" y="2656078"/>
                  </a:lnTo>
                  <a:lnTo>
                    <a:pt x="6350" y="2656078"/>
                  </a:lnTo>
                  <a:lnTo>
                    <a:pt x="12700" y="2656078"/>
                  </a:lnTo>
                  <a:cubicBezTo>
                    <a:pt x="12700" y="2740279"/>
                    <a:pt x="81153" y="2808478"/>
                    <a:pt x="165735" y="2808478"/>
                  </a:cubicBezTo>
                  <a:lnTo>
                    <a:pt x="12441047" y="2808478"/>
                  </a:lnTo>
                  <a:cubicBezTo>
                    <a:pt x="12525628" y="2808478"/>
                    <a:pt x="12594082" y="2740152"/>
                    <a:pt x="12594082" y="2656078"/>
                  </a:cubicBezTo>
                  <a:lnTo>
                    <a:pt x="12594082" y="165100"/>
                  </a:lnTo>
                  <a:cubicBezTo>
                    <a:pt x="12594082" y="80899"/>
                    <a:pt x="12525628" y="12700"/>
                    <a:pt x="12441047" y="12700"/>
                  </a:cubicBezTo>
                  <a:lnTo>
                    <a:pt x="165735" y="12700"/>
                  </a:lnTo>
                  <a:lnTo>
                    <a:pt x="165735" y="6350"/>
                  </a:lnTo>
                  <a:lnTo>
                    <a:pt x="165735" y="12700"/>
                  </a:lnTo>
                  <a:cubicBezTo>
                    <a:pt x="81153" y="12700"/>
                    <a:pt x="12700" y="81026"/>
                    <a:pt x="12700" y="165100"/>
                  </a:cubicBezTo>
                  <a:close/>
                </a:path>
              </a:pathLst>
            </a:custGeom>
            <a:solidFill>
              <a:srgbClr val="C0C1D7"/>
            </a:solidFill>
          </p:spPr>
        </p:sp>
      </p:grpSp>
      <p:sp>
        <p:nvSpPr>
          <p:cNvPr name="TextBox 24" id="24"/>
          <p:cNvSpPr txBox="true"/>
          <p:nvPr/>
        </p:nvSpPr>
        <p:spPr>
          <a:xfrm rot="0">
            <a:off x="1285284" y="6895205"/>
            <a:ext cx="3971630" cy="461962"/>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Improved Performance</a:t>
            </a:r>
          </a:p>
        </p:txBody>
      </p:sp>
      <p:sp>
        <p:nvSpPr>
          <p:cNvPr name="TextBox 25" id="25"/>
          <p:cNvSpPr txBox="true"/>
          <p:nvPr/>
        </p:nvSpPr>
        <p:spPr>
          <a:xfrm rot="0">
            <a:off x="1285284" y="7441559"/>
            <a:ext cx="8859441" cy="992981"/>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Compared to random guessing, the AI achieves higher success rates and solves words more efficiently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880729" y="997277"/>
            <a:ext cx="7088238" cy="914552"/>
          </a:xfrm>
          <a:prstGeom prst="rect">
            <a:avLst/>
          </a:prstGeom>
        </p:spPr>
        <p:txBody>
          <a:bodyPr anchor="t" rtlCol="false" tIns="0" lIns="0" bIns="0" rIns="0">
            <a:spAutoFit/>
          </a:bodyPr>
          <a:lstStyle/>
          <a:p>
            <a:pPr algn="l">
              <a:lnSpc>
                <a:spcPts val="6937"/>
              </a:lnSpc>
            </a:pPr>
            <a:r>
              <a:rPr lang="en-US" sz="5562" b="true">
                <a:solidFill>
                  <a:srgbClr val="000000"/>
                </a:solidFill>
                <a:latin typeface="Inter Bold"/>
                <a:ea typeface="Inter Bold"/>
                <a:cs typeface="Inter Bold"/>
                <a:sym typeface="Inter Bold"/>
              </a:rPr>
              <a:t>AI Algorithms Used</a:t>
            </a:r>
          </a:p>
        </p:txBody>
      </p:sp>
      <p:grpSp>
        <p:nvGrpSpPr>
          <p:cNvPr name="Group 7" id="7"/>
          <p:cNvGrpSpPr/>
          <p:nvPr/>
        </p:nvGrpSpPr>
        <p:grpSpPr>
          <a:xfrm rot="0">
            <a:off x="1434646" y="2125504"/>
            <a:ext cx="4935493" cy="7348395"/>
            <a:chOff x="0" y="0"/>
            <a:chExt cx="6580657" cy="9797860"/>
          </a:xfrm>
        </p:grpSpPr>
        <p:sp>
          <p:nvSpPr>
            <p:cNvPr name="Freeform 8" id="8"/>
            <p:cNvSpPr/>
            <p:nvPr/>
          </p:nvSpPr>
          <p:spPr>
            <a:xfrm flipH="false" flipV="false" rot="0">
              <a:off x="0" y="0"/>
              <a:ext cx="6580632" cy="9797923"/>
            </a:xfrm>
            <a:custGeom>
              <a:avLst/>
              <a:gdLst/>
              <a:ahLst/>
              <a:cxnLst/>
              <a:rect r="r" b="b" t="t" l="l"/>
              <a:pathLst>
                <a:path h="9797923" w="6580632">
                  <a:moveTo>
                    <a:pt x="0" y="0"/>
                  </a:moveTo>
                  <a:lnTo>
                    <a:pt x="6580632" y="0"/>
                  </a:lnTo>
                  <a:lnTo>
                    <a:pt x="6580632" y="9797923"/>
                  </a:lnTo>
                  <a:lnTo>
                    <a:pt x="0" y="9797923"/>
                  </a:lnTo>
                  <a:lnTo>
                    <a:pt x="0" y="0"/>
                  </a:lnTo>
                  <a:close/>
                </a:path>
              </a:pathLst>
            </a:custGeom>
            <a:blipFill>
              <a:blip r:embed="rId3"/>
              <a:stretch>
                <a:fillRect l="0" t="0" r="0" b="0"/>
              </a:stretch>
            </a:blipFill>
          </p:spPr>
        </p:sp>
      </p:grpSp>
      <p:sp>
        <p:nvSpPr>
          <p:cNvPr name="TextBox 9" id="9"/>
          <p:cNvSpPr txBox="true"/>
          <p:nvPr/>
        </p:nvSpPr>
        <p:spPr>
          <a:xfrm rot="0">
            <a:off x="7148227" y="2597182"/>
            <a:ext cx="7529570" cy="5011312"/>
          </a:xfrm>
          <a:prstGeom prst="rect">
            <a:avLst/>
          </a:prstGeom>
        </p:spPr>
        <p:txBody>
          <a:bodyPr anchor="t" rtlCol="false" tIns="0" lIns="0" bIns="0" rIns="0">
            <a:spAutoFit/>
          </a:bodyPr>
          <a:lstStyle/>
          <a:p>
            <a:r>
              <a:t>AI Algorithm (Single Slide)</a:t>
            </a:r>
          </a:p>
          <a:p/>
          <a:p>
            <a:r>
              <a:t>1. Filter candidates by word length, revealed letters, and excluded wrong letters.</a:t>
            </a:r>
          </a:p>
          <a:p>
            <a:r>
              <a:t>2. Easy: choose the most frequent unguessed letter from candidates, with slight randomness.</a:t>
            </a:r>
          </a:p>
          <a:p>
            <a:r>
              <a:t>3. Medium: compute score = 0.5*frequency + 0.3*positionalProbability + 0.2*eliminationPower.</a:t>
            </a:r>
          </a:p>
          <a:p>
            <a:r>
              <a:t>4. Hard: evaluate each letter by Shannon entropy over partitions of candidate patterns.</a:t>
            </a:r>
          </a:p>
          <a:p>
            <a:r>
              <a:t>5. Returns the best next letter guess and the current candidate count.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028138" y="572481"/>
            <a:ext cx="9474994" cy="914552"/>
          </a:xfrm>
          <a:prstGeom prst="rect">
            <a:avLst/>
          </a:prstGeom>
        </p:spPr>
        <p:txBody>
          <a:bodyPr anchor="t" rtlCol="false" tIns="0" lIns="0" bIns="0" rIns="0">
            <a:spAutoFit/>
          </a:bodyPr>
          <a:lstStyle/>
          <a:p>
            <a:pPr algn="l">
              <a:lnSpc>
                <a:spcPts val="6937"/>
              </a:lnSpc>
            </a:pPr>
            <a:r>
              <a:rPr lang="en-US" sz="5562" b="true">
                <a:solidFill>
                  <a:srgbClr val="000000"/>
                </a:solidFill>
                <a:latin typeface="Inter Bold"/>
                <a:ea typeface="Inter Bold"/>
                <a:cs typeface="Inter Bold"/>
                <a:sym typeface="Inter Bold"/>
              </a:rPr>
              <a:t>AI Algorithms Used</a:t>
            </a:r>
          </a:p>
        </p:txBody>
      </p:sp>
      <p:sp>
        <p:nvSpPr>
          <p:cNvPr name="TextBox 7" id="7"/>
          <p:cNvSpPr txBox="true"/>
          <p:nvPr/>
        </p:nvSpPr>
        <p:spPr>
          <a:xfrm rot="0">
            <a:off x="9144000" y="2889580"/>
            <a:ext cx="6490964" cy="5025333"/>
          </a:xfrm>
          <a:prstGeom prst="rect">
            <a:avLst/>
          </a:prstGeom>
        </p:spPr>
        <p:txBody>
          <a:bodyPr anchor="t" rtlCol="false" tIns="0" lIns="0" bIns="0" rIns="0">
            <a:spAutoFit/>
          </a:bodyPr>
          <a:lstStyle/>
          <a:p>
            <a:r>
              <a:t>AI algorithm details are consolidated on the previous slide.</a:t>
            </a:r>
          </a:p>
        </p:txBody>
      </p:sp>
      <p:grpSp>
        <p:nvGrpSpPr>
          <p:cNvPr name="Group 8" id="8"/>
          <p:cNvGrpSpPr/>
          <p:nvPr/>
        </p:nvGrpSpPr>
        <p:grpSpPr>
          <a:xfrm rot="0">
            <a:off x="1437951" y="1905362"/>
            <a:ext cx="5463883" cy="7320591"/>
            <a:chOff x="0" y="0"/>
            <a:chExt cx="7285177" cy="9760788"/>
          </a:xfrm>
        </p:grpSpPr>
        <p:sp>
          <p:nvSpPr>
            <p:cNvPr name="Freeform 9" id="9"/>
            <p:cNvSpPr/>
            <p:nvPr/>
          </p:nvSpPr>
          <p:spPr>
            <a:xfrm flipH="false" flipV="false" rot="0">
              <a:off x="0" y="0"/>
              <a:ext cx="7285228" cy="9760839"/>
            </a:xfrm>
            <a:custGeom>
              <a:avLst/>
              <a:gdLst/>
              <a:ahLst/>
              <a:cxnLst/>
              <a:rect r="r" b="b" t="t" l="l"/>
              <a:pathLst>
                <a:path h="9760839" w="7285228">
                  <a:moveTo>
                    <a:pt x="0" y="0"/>
                  </a:moveTo>
                  <a:lnTo>
                    <a:pt x="7285228" y="0"/>
                  </a:lnTo>
                  <a:lnTo>
                    <a:pt x="7285228" y="9760839"/>
                  </a:lnTo>
                  <a:lnTo>
                    <a:pt x="0" y="9760839"/>
                  </a:lnTo>
                  <a:lnTo>
                    <a:pt x="0" y="0"/>
                  </a:lnTo>
                  <a:close/>
                </a:path>
              </a:pathLst>
            </a:custGeom>
            <a:blipFill>
              <a:blip r:embed="rId3"/>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857402" y="715861"/>
            <a:ext cx="6124280" cy="793994"/>
          </a:xfrm>
          <a:prstGeom prst="rect">
            <a:avLst/>
          </a:prstGeom>
        </p:spPr>
        <p:txBody>
          <a:bodyPr anchor="t" rtlCol="false" tIns="0" lIns="0" bIns="0" rIns="0">
            <a:spAutoFit/>
          </a:bodyPr>
          <a:lstStyle/>
          <a:p>
            <a:pPr algn="l">
              <a:lnSpc>
                <a:spcPts val="6000"/>
              </a:lnSpc>
            </a:pPr>
            <a:r>
              <a:rPr lang="en-US" sz="4812" b="true">
                <a:solidFill>
                  <a:srgbClr val="000000"/>
                </a:solidFill>
                <a:latin typeface="Inter Bold"/>
                <a:ea typeface="Inter Bold"/>
                <a:cs typeface="Inter Bold"/>
                <a:sym typeface="Inter Bold"/>
              </a:rPr>
              <a:t>Algorithm Workflow</a:t>
            </a:r>
          </a:p>
        </p:txBody>
      </p:sp>
      <p:grpSp>
        <p:nvGrpSpPr>
          <p:cNvPr name="Group 7" id="7"/>
          <p:cNvGrpSpPr/>
          <p:nvPr/>
        </p:nvGrpSpPr>
        <p:grpSpPr>
          <a:xfrm rot="0">
            <a:off x="857402" y="1933127"/>
            <a:ext cx="1224858" cy="1469822"/>
            <a:chOff x="0" y="0"/>
            <a:chExt cx="1633144" cy="1959762"/>
          </a:xfrm>
        </p:grpSpPr>
        <p:sp>
          <p:nvSpPr>
            <p:cNvPr name="Freeform 8" id="8" descr="preencoded.png"/>
            <p:cNvSpPr/>
            <p:nvPr/>
          </p:nvSpPr>
          <p:spPr>
            <a:xfrm flipH="false" flipV="false" rot="0">
              <a:off x="0" y="0"/>
              <a:ext cx="1633093" cy="1959737"/>
            </a:xfrm>
            <a:custGeom>
              <a:avLst/>
              <a:gdLst/>
              <a:ahLst/>
              <a:cxnLst/>
              <a:rect r="r" b="b" t="t" l="l"/>
              <a:pathLst>
                <a:path h="1959737" w="1633093">
                  <a:moveTo>
                    <a:pt x="0" y="0"/>
                  </a:moveTo>
                  <a:lnTo>
                    <a:pt x="1633093" y="0"/>
                  </a:lnTo>
                  <a:lnTo>
                    <a:pt x="1633093" y="1959737"/>
                  </a:lnTo>
                  <a:lnTo>
                    <a:pt x="0" y="1959737"/>
                  </a:lnTo>
                  <a:lnTo>
                    <a:pt x="0" y="0"/>
                  </a:lnTo>
                  <a:close/>
                </a:path>
              </a:pathLst>
            </a:custGeom>
            <a:blipFill>
              <a:blip r:embed="rId3"/>
              <a:stretch>
                <a:fillRect l="-259" t="0" r="-262" b="-1"/>
              </a:stretch>
            </a:blipFill>
          </p:spPr>
        </p:sp>
      </p:grpSp>
      <p:sp>
        <p:nvSpPr>
          <p:cNvPr name="TextBox 9" id="9"/>
          <p:cNvSpPr txBox="true"/>
          <p:nvPr/>
        </p:nvSpPr>
        <p:spPr>
          <a:xfrm rot="0">
            <a:off x="2293887" y="2159051"/>
            <a:ext cx="3062135" cy="401841"/>
          </a:xfrm>
          <a:prstGeom prst="rect">
            <a:avLst/>
          </a:prstGeom>
        </p:spPr>
        <p:txBody>
          <a:bodyPr anchor="t" rtlCol="false" tIns="0" lIns="0" bIns="0" rIns="0">
            <a:spAutoFit/>
          </a:bodyPr>
          <a:lstStyle/>
          <a:p/>
        </p:txBody>
      </p:sp>
      <p:sp>
        <p:nvSpPr>
          <p:cNvPr name="TextBox 10" id="10"/>
          <p:cNvSpPr txBox="true"/>
          <p:nvPr/>
        </p:nvSpPr>
        <p:spPr>
          <a:xfrm rot="0">
            <a:off x="2293887" y="2630691"/>
            <a:ext cx="15136711" cy="422377"/>
          </a:xfrm>
          <a:prstGeom prst="rect">
            <a:avLst/>
          </a:prstGeom>
        </p:spPr>
        <p:txBody>
          <a:bodyPr anchor="t" rtlCol="false" tIns="0" lIns="0" bIns="0" rIns="0">
            <a:spAutoFit/>
          </a:bodyPr>
          <a:lstStyle/>
          <a:p/>
        </p:txBody>
      </p:sp>
      <p:grpSp>
        <p:nvGrpSpPr>
          <p:cNvPr name="Group 11" id="11"/>
          <p:cNvGrpSpPr/>
          <p:nvPr/>
        </p:nvGrpSpPr>
        <p:grpSpPr>
          <a:xfrm rot="0">
            <a:off x="857402" y="3402959"/>
            <a:ext cx="1224858" cy="1469822"/>
            <a:chOff x="0" y="0"/>
            <a:chExt cx="1633144" cy="1959762"/>
          </a:xfrm>
        </p:grpSpPr>
        <p:sp>
          <p:nvSpPr>
            <p:cNvPr name="Freeform 12" id="12" descr="preencoded.png"/>
            <p:cNvSpPr/>
            <p:nvPr/>
          </p:nvSpPr>
          <p:spPr>
            <a:xfrm flipH="false" flipV="false" rot="0">
              <a:off x="0" y="0"/>
              <a:ext cx="1633093" cy="1959737"/>
            </a:xfrm>
            <a:custGeom>
              <a:avLst/>
              <a:gdLst/>
              <a:ahLst/>
              <a:cxnLst/>
              <a:rect r="r" b="b" t="t" l="l"/>
              <a:pathLst>
                <a:path h="1959737" w="1633093">
                  <a:moveTo>
                    <a:pt x="0" y="0"/>
                  </a:moveTo>
                  <a:lnTo>
                    <a:pt x="1633093" y="0"/>
                  </a:lnTo>
                  <a:lnTo>
                    <a:pt x="1633093" y="1959737"/>
                  </a:lnTo>
                  <a:lnTo>
                    <a:pt x="0" y="1959737"/>
                  </a:lnTo>
                  <a:lnTo>
                    <a:pt x="0" y="0"/>
                  </a:lnTo>
                  <a:close/>
                </a:path>
              </a:pathLst>
            </a:custGeom>
            <a:blipFill>
              <a:blip r:embed="rId4"/>
              <a:stretch>
                <a:fillRect l="-259" t="0" r="-262" b="-1"/>
              </a:stretch>
            </a:blipFill>
          </p:spPr>
        </p:sp>
      </p:grpSp>
      <p:sp>
        <p:nvSpPr>
          <p:cNvPr name="TextBox 13" id="13"/>
          <p:cNvSpPr txBox="true"/>
          <p:nvPr/>
        </p:nvSpPr>
        <p:spPr>
          <a:xfrm rot="0">
            <a:off x="2293887" y="3628873"/>
            <a:ext cx="3327644" cy="401841"/>
          </a:xfrm>
          <a:prstGeom prst="rect">
            <a:avLst/>
          </a:prstGeom>
        </p:spPr>
        <p:txBody>
          <a:bodyPr anchor="t" rtlCol="false" tIns="0" lIns="0" bIns="0" rIns="0">
            <a:spAutoFit/>
          </a:bodyPr>
          <a:lstStyle/>
          <a:p/>
        </p:txBody>
      </p:sp>
      <p:sp>
        <p:nvSpPr>
          <p:cNvPr name="TextBox 14" id="14"/>
          <p:cNvSpPr txBox="true"/>
          <p:nvPr/>
        </p:nvSpPr>
        <p:spPr>
          <a:xfrm rot="0">
            <a:off x="2293887" y="4100512"/>
            <a:ext cx="15136711" cy="422377"/>
          </a:xfrm>
          <a:prstGeom prst="rect">
            <a:avLst/>
          </a:prstGeom>
        </p:spPr>
        <p:txBody>
          <a:bodyPr anchor="t" rtlCol="false" tIns="0" lIns="0" bIns="0" rIns="0">
            <a:spAutoFit/>
          </a:bodyPr>
          <a:lstStyle/>
          <a:p/>
        </p:txBody>
      </p:sp>
      <p:grpSp>
        <p:nvGrpSpPr>
          <p:cNvPr name="Group 15" id="15"/>
          <p:cNvGrpSpPr/>
          <p:nvPr/>
        </p:nvGrpSpPr>
        <p:grpSpPr>
          <a:xfrm rot="0">
            <a:off x="857402" y="4872780"/>
            <a:ext cx="1224858" cy="1469822"/>
            <a:chOff x="0" y="0"/>
            <a:chExt cx="1633144" cy="1959762"/>
          </a:xfrm>
        </p:grpSpPr>
        <p:sp>
          <p:nvSpPr>
            <p:cNvPr name="Freeform 16" id="16" descr="preencoded.png"/>
            <p:cNvSpPr/>
            <p:nvPr/>
          </p:nvSpPr>
          <p:spPr>
            <a:xfrm flipH="false" flipV="false" rot="0">
              <a:off x="0" y="0"/>
              <a:ext cx="1633093" cy="1959737"/>
            </a:xfrm>
            <a:custGeom>
              <a:avLst/>
              <a:gdLst/>
              <a:ahLst/>
              <a:cxnLst/>
              <a:rect r="r" b="b" t="t" l="l"/>
              <a:pathLst>
                <a:path h="1959737" w="1633093">
                  <a:moveTo>
                    <a:pt x="0" y="0"/>
                  </a:moveTo>
                  <a:lnTo>
                    <a:pt x="1633093" y="0"/>
                  </a:lnTo>
                  <a:lnTo>
                    <a:pt x="1633093" y="1959737"/>
                  </a:lnTo>
                  <a:lnTo>
                    <a:pt x="0" y="1959737"/>
                  </a:lnTo>
                  <a:lnTo>
                    <a:pt x="0" y="0"/>
                  </a:lnTo>
                  <a:close/>
                </a:path>
              </a:pathLst>
            </a:custGeom>
            <a:blipFill>
              <a:blip r:embed="rId5"/>
              <a:stretch>
                <a:fillRect l="-259" t="0" r="-262" b="-1"/>
              </a:stretch>
            </a:blipFill>
          </p:spPr>
        </p:sp>
      </p:grpSp>
      <p:sp>
        <p:nvSpPr>
          <p:cNvPr name="TextBox 17" id="17"/>
          <p:cNvSpPr txBox="true"/>
          <p:nvPr/>
        </p:nvSpPr>
        <p:spPr>
          <a:xfrm rot="0">
            <a:off x="2293887" y="5098704"/>
            <a:ext cx="3062135" cy="401841"/>
          </a:xfrm>
          <a:prstGeom prst="rect">
            <a:avLst/>
          </a:prstGeom>
        </p:spPr>
        <p:txBody>
          <a:bodyPr anchor="t" rtlCol="false" tIns="0" lIns="0" bIns="0" rIns="0">
            <a:spAutoFit/>
          </a:bodyPr>
          <a:lstStyle/>
          <a:p/>
        </p:txBody>
      </p:sp>
      <p:sp>
        <p:nvSpPr>
          <p:cNvPr name="TextBox 18" id="18"/>
          <p:cNvSpPr txBox="true"/>
          <p:nvPr/>
        </p:nvSpPr>
        <p:spPr>
          <a:xfrm rot="0">
            <a:off x="2293887" y="5570334"/>
            <a:ext cx="15136711" cy="422377"/>
          </a:xfrm>
          <a:prstGeom prst="rect">
            <a:avLst/>
          </a:prstGeom>
        </p:spPr>
        <p:txBody>
          <a:bodyPr anchor="t" rtlCol="false" tIns="0" lIns="0" bIns="0" rIns="0">
            <a:spAutoFit/>
          </a:bodyPr>
          <a:lstStyle/>
          <a:p/>
        </p:txBody>
      </p:sp>
      <p:grpSp>
        <p:nvGrpSpPr>
          <p:cNvPr name="Group 19" id="19"/>
          <p:cNvGrpSpPr/>
          <p:nvPr/>
        </p:nvGrpSpPr>
        <p:grpSpPr>
          <a:xfrm rot="0">
            <a:off x="857402" y="6342612"/>
            <a:ext cx="1224858" cy="1730131"/>
            <a:chOff x="0" y="0"/>
            <a:chExt cx="1633144" cy="2306841"/>
          </a:xfrm>
        </p:grpSpPr>
        <p:sp>
          <p:nvSpPr>
            <p:cNvPr name="Freeform 20" id="20" descr="preencoded.png"/>
            <p:cNvSpPr/>
            <p:nvPr/>
          </p:nvSpPr>
          <p:spPr>
            <a:xfrm flipH="false" flipV="false" rot="0">
              <a:off x="0" y="0"/>
              <a:ext cx="1633093" cy="2306828"/>
            </a:xfrm>
            <a:custGeom>
              <a:avLst/>
              <a:gdLst/>
              <a:ahLst/>
              <a:cxnLst/>
              <a:rect r="r" b="b" t="t" l="l"/>
              <a:pathLst>
                <a:path h="2306828" w="1633093">
                  <a:moveTo>
                    <a:pt x="0" y="0"/>
                  </a:moveTo>
                  <a:lnTo>
                    <a:pt x="1633093" y="0"/>
                  </a:lnTo>
                  <a:lnTo>
                    <a:pt x="1633093" y="2306828"/>
                  </a:lnTo>
                  <a:lnTo>
                    <a:pt x="0" y="2306828"/>
                  </a:lnTo>
                  <a:lnTo>
                    <a:pt x="0" y="0"/>
                  </a:lnTo>
                  <a:close/>
                </a:path>
              </a:pathLst>
            </a:custGeom>
            <a:blipFill>
              <a:blip r:embed="rId6"/>
              <a:stretch>
                <a:fillRect l="-59" t="0" r="-61" b="0"/>
              </a:stretch>
            </a:blipFill>
          </p:spPr>
        </p:sp>
      </p:grpSp>
      <p:sp>
        <p:nvSpPr>
          <p:cNvPr name="TextBox 21" id="21"/>
          <p:cNvSpPr txBox="true"/>
          <p:nvPr/>
        </p:nvSpPr>
        <p:spPr>
          <a:xfrm rot="0">
            <a:off x="2293887" y="6568526"/>
            <a:ext cx="3062135" cy="401841"/>
          </a:xfrm>
          <a:prstGeom prst="rect">
            <a:avLst/>
          </a:prstGeom>
        </p:spPr>
        <p:txBody>
          <a:bodyPr anchor="t" rtlCol="false" tIns="0" lIns="0" bIns="0" rIns="0">
            <a:spAutoFit/>
          </a:bodyPr>
          <a:lstStyle/>
          <a:p/>
        </p:txBody>
      </p:sp>
      <p:sp>
        <p:nvSpPr>
          <p:cNvPr name="TextBox 22" id="22"/>
          <p:cNvSpPr txBox="true"/>
          <p:nvPr/>
        </p:nvSpPr>
        <p:spPr>
          <a:xfrm rot="0">
            <a:off x="2293887" y="7040166"/>
            <a:ext cx="15136711" cy="787603"/>
          </a:xfrm>
          <a:prstGeom prst="rect">
            <a:avLst/>
          </a:prstGeom>
        </p:spPr>
        <p:txBody>
          <a:bodyPr anchor="t" rtlCol="false" tIns="0" lIns="0" bIns="0" rIns="0">
            <a:spAutoFit/>
          </a:bodyPr>
          <a:lstStyle/>
          <a:p/>
        </p:txBody>
      </p:sp>
      <p:grpSp>
        <p:nvGrpSpPr>
          <p:cNvPr name="Group 23" id="23"/>
          <p:cNvGrpSpPr/>
          <p:nvPr/>
        </p:nvGrpSpPr>
        <p:grpSpPr>
          <a:xfrm rot="0">
            <a:off x="857402" y="8072733"/>
            <a:ext cx="1224858" cy="1469822"/>
            <a:chOff x="0" y="0"/>
            <a:chExt cx="1633144" cy="1959762"/>
          </a:xfrm>
        </p:grpSpPr>
        <p:sp>
          <p:nvSpPr>
            <p:cNvPr name="Freeform 24" id="24" descr="preencoded.png"/>
            <p:cNvSpPr/>
            <p:nvPr/>
          </p:nvSpPr>
          <p:spPr>
            <a:xfrm flipH="false" flipV="false" rot="0">
              <a:off x="0" y="0"/>
              <a:ext cx="1633093" cy="1959737"/>
            </a:xfrm>
            <a:custGeom>
              <a:avLst/>
              <a:gdLst/>
              <a:ahLst/>
              <a:cxnLst/>
              <a:rect r="r" b="b" t="t" l="l"/>
              <a:pathLst>
                <a:path h="1959737" w="1633093">
                  <a:moveTo>
                    <a:pt x="0" y="0"/>
                  </a:moveTo>
                  <a:lnTo>
                    <a:pt x="1633093" y="0"/>
                  </a:lnTo>
                  <a:lnTo>
                    <a:pt x="1633093" y="1959737"/>
                  </a:lnTo>
                  <a:lnTo>
                    <a:pt x="0" y="1959737"/>
                  </a:lnTo>
                  <a:lnTo>
                    <a:pt x="0" y="0"/>
                  </a:lnTo>
                  <a:close/>
                </a:path>
              </a:pathLst>
            </a:custGeom>
            <a:blipFill>
              <a:blip r:embed="rId7"/>
              <a:stretch>
                <a:fillRect l="-259" t="0" r="-262" b="-1"/>
              </a:stretch>
            </a:blipFill>
          </p:spPr>
        </p:sp>
      </p:grpSp>
      <p:sp>
        <p:nvSpPr>
          <p:cNvPr name="TextBox 25" id="25"/>
          <p:cNvSpPr txBox="true"/>
          <p:nvPr/>
        </p:nvSpPr>
        <p:spPr>
          <a:xfrm rot="0">
            <a:off x="2293887" y="8298656"/>
            <a:ext cx="3062135" cy="401841"/>
          </a:xfrm>
          <a:prstGeom prst="rect">
            <a:avLst/>
          </a:prstGeom>
        </p:spPr>
        <p:txBody>
          <a:bodyPr anchor="t" rtlCol="false" tIns="0" lIns="0" bIns="0" rIns="0">
            <a:spAutoFit/>
          </a:bodyPr>
          <a:lstStyle/>
          <a:p/>
        </p:txBody>
      </p:sp>
      <p:sp>
        <p:nvSpPr>
          <p:cNvPr name="TextBox 26" id="26"/>
          <p:cNvSpPr txBox="true"/>
          <p:nvPr/>
        </p:nvSpPr>
        <p:spPr>
          <a:xfrm rot="0">
            <a:off x="2293887" y="8770296"/>
            <a:ext cx="15136711" cy="422377"/>
          </a:xfrm>
          <a:prstGeom prst="rect">
            <a:avLst/>
          </a:prstGeom>
        </p:spPr>
        <p:txBody>
          <a:bodyPr anchor="t" rtlCol="false" tIns="0" lIns="0" bIns="0" rIns="0">
            <a:spAutoFit/>
          </a:bodyPr>
          <a:lstStyle/>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847134" y="1266377"/>
            <a:ext cx="9701060" cy="775392"/>
          </a:xfrm>
          <a:prstGeom prst="rect">
            <a:avLst/>
          </a:prstGeom>
        </p:spPr>
        <p:txBody>
          <a:bodyPr anchor="t" rtlCol="false" tIns="0" lIns="0" bIns="0" rIns="0">
            <a:spAutoFit/>
          </a:bodyPr>
          <a:lstStyle/>
          <a:p>
            <a:pPr algn="l">
              <a:lnSpc>
                <a:spcPts val="5937"/>
              </a:lnSpc>
            </a:pPr>
            <a:r>
              <a:rPr lang="en-US" sz="4750" b="true">
                <a:solidFill>
                  <a:srgbClr val="000000"/>
                </a:solidFill>
                <a:latin typeface="Inter Bold"/>
                <a:ea typeface="Inter Bold"/>
                <a:cs typeface="Inter Bold"/>
                <a:sym typeface="Inter Bold"/>
              </a:rPr>
              <a:t>Why the AI Does Not Always Win</a:t>
            </a:r>
          </a:p>
        </p:txBody>
      </p:sp>
      <p:grpSp>
        <p:nvGrpSpPr>
          <p:cNvPr name="Group 7" id="7"/>
          <p:cNvGrpSpPr/>
          <p:nvPr/>
        </p:nvGrpSpPr>
        <p:grpSpPr>
          <a:xfrm rot="0">
            <a:off x="832847" y="2440781"/>
            <a:ext cx="8222161" cy="3198466"/>
            <a:chOff x="0" y="0"/>
            <a:chExt cx="10962881" cy="4264622"/>
          </a:xfrm>
        </p:grpSpPr>
        <p:sp>
          <p:nvSpPr>
            <p:cNvPr name="Freeform 8" id="8"/>
            <p:cNvSpPr/>
            <p:nvPr/>
          </p:nvSpPr>
          <p:spPr>
            <a:xfrm flipH="false" flipV="false" rot="0">
              <a:off x="19050" y="19050"/>
              <a:ext cx="10924794" cy="4226433"/>
            </a:xfrm>
            <a:custGeom>
              <a:avLst/>
              <a:gdLst/>
              <a:ahLst/>
              <a:cxnLst/>
              <a:rect r="r" b="b" t="t" l="l"/>
              <a:pathLst>
                <a:path h="4226433" w="10924794">
                  <a:moveTo>
                    <a:pt x="0" y="135509"/>
                  </a:moveTo>
                  <a:cubicBezTo>
                    <a:pt x="0" y="60706"/>
                    <a:pt x="60960" y="0"/>
                    <a:pt x="136271" y="0"/>
                  </a:cubicBezTo>
                  <a:lnTo>
                    <a:pt x="10788523" y="0"/>
                  </a:lnTo>
                  <a:cubicBezTo>
                    <a:pt x="10863834" y="0"/>
                    <a:pt x="10924794" y="60706"/>
                    <a:pt x="10924794" y="135509"/>
                  </a:cubicBezTo>
                  <a:lnTo>
                    <a:pt x="10924794" y="4090924"/>
                  </a:lnTo>
                  <a:cubicBezTo>
                    <a:pt x="10924794" y="4165727"/>
                    <a:pt x="10863834" y="4226433"/>
                    <a:pt x="10788523" y="4226433"/>
                  </a:cubicBezTo>
                  <a:lnTo>
                    <a:pt x="136271" y="4226433"/>
                  </a:lnTo>
                  <a:cubicBezTo>
                    <a:pt x="60960" y="4226433"/>
                    <a:pt x="0" y="4165727"/>
                    <a:pt x="0" y="4090924"/>
                  </a:cubicBezTo>
                  <a:close/>
                </a:path>
              </a:pathLst>
            </a:custGeom>
            <a:solidFill>
              <a:srgbClr val="FFFFFF"/>
            </a:solidFill>
          </p:spPr>
        </p:sp>
        <p:sp>
          <p:nvSpPr>
            <p:cNvPr name="Freeform 9" id="9"/>
            <p:cNvSpPr/>
            <p:nvPr/>
          </p:nvSpPr>
          <p:spPr>
            <a:xfrm flipH="false" flipV="false" rot="0">
              <a:off x="0" y="0"/>
              <a:ext cx="10962894" cy="4264533"/>
            </a:xfrm>
            <a:custGeom>
              <a:avLst/>
              <a:gdLst/>
              <a:ahLst/>
              <a:cxnLst/>
              <a:rect r="r" b="b" t="t" l="l"/>
              <a:pathLst>
                <a:path h="4264533" w="10962894">
                  <a:moveTo>
                    <a:pt x="0" y="154559"/>
                  </a:moveTo>
                  <a:cubicBezTo>
                    <a:pt x="0" y="69088"/>
                    <a:pt x="69596" y="0"/>
                    <a:pt x="155321" y="0"/>
                  </a:cubicBezTo>
                  <a:lnTo>
                    <a:pt x="10807573" y="0"/>
                  </a:lnTo>
                  <a:lnTo>
                    <a:pt x="10807573" y="19050"/>
                  </a:lnTo>
                  <a:lnTo>
                    <a:pt x="10807573" y="0"/>
                  </a:lnTo>
                  <a:cubicBezTo>
                    <a:pt x="10893298" y="0"/>
                    <a:pt x="10962894" y="69088"/>
                    <a:pt x="10962894" y="154559"/>
                  </a:cubicBezTo>
                  <a:lnTo>
                    <a:pt x="10943844" y="154559"/>
                  </a:lnTo>
                  <a:lnTo>
                    <a:pt x="10962894" y="154559"/>
                  </a:lnTo>
                  <a:lnTo>
                    <a:pt x="10962894" y="4109974"/>
                  </a:lnTo>
                  <a:lnTo>
                    <a:pt x="10943844" y="4109974"/>
                  </a:lnTo>
                  <a:lnTo>
                    <a:pt x="10962894" y="4109974"/>
                  </a:lnTo>
                  <a:cubicBezTo>
                    <a:pt x="10962894" y="4195445"/>
                    <a:pt x="10893298" y="4264533"/>
                    <a:pt x="10807573" y="4264533"/>
                  </a:cubicBezTo>
                  <a:lnTo>
                    <a:pt x="10807573" y="4245483"/>
                  </a:lnTo>
                  <a:lnTo>
                    <a:pt x="10807573" y="4264533"/>
                  </a:lnTo>
                  <a:lnTo>
                    <a:pt x="155321" y="4264533"/>
                  </a:lnTo>
                  <a:lnTo>
                    <a:pt x="155321" y="4245483"/>
                  </a:lnTo>
                  <a:lnTo>
                    <a:pt x="155321" y="4264533"/>
                  </a:lnTo>
                  <a:cubicBezTo>
                    <a:pt x="69596" y="4264660"/>
                    <a:pt x="0" y="4195445"/>
                    <a:pt x="0" y="4109974"/>
                  </a:cubicBezTo>
                  <a:lnTo>
                    <a:pt x="0" y="154559"/>
                  </a:lnTo>
                  <a:lnTo>
                    <a:pt x="19050" y="154559"/>
                  </a:lnTo>
                  <a:lnTo>
                    <a:pt x="0" y="154559"/>
                  </a:lnTo>
                  <a:moveTo>
                    <a:pt x="38100" y="154559"/>
                  </a:moveTo>
                  <a:lnTo>
                    <a:pt x="38100" y="4109974"/>
                  </a:lnTo>
                  <a:lnTo>
                    <a:pt x="19050" y="4109974"/>
                  </a:lnTo>
                  <a:lnTo>
                    <a:pt x="38100" y="4109974"/>
                  </a:lnTo>
                  <a:cubicBezTo>
                    <a:pt x="38100" y="4174236"/>
                    <a:pt x="90551" y="4226433"/>
                    <a:pt x="155321" y="4226433"/>
                  </a:cubicBezTo>
                  <a:lnTo>
                    <a:pt x="10807573" y="4226433"/>
                  </a:lnTo>
                  <a:cubicBezTo>
                    <a:pt x="10872470" y="4226433"/>
                    <a:pt x="10924794" y="4174236"/>
                    <a:pt x="10924794" y="4109974"/>
                  </a:cubicBezTo>
                  <a:lnTo>
                    <a:pt x="10924794" y="154559"/>
                  </a:lnTo>
                  <a:cubicBezTo>
                    <a:pt x="10924794" y="90297"/>
                    <a:pt x="10872343" y="38100"/>
                    <a:pt x="10807573" y="38100"/>
                  </a:cubicBezTo>
                  <a:lnTo>
                    <a:pt x="155321" y="38100"/>
                  </a:lnTo>
                  <a:lnTo>
                    <a:pt x="155321" y="19050"/>
                  </a:lnTo>
                  <a:lnTo>
                    <a:pt x="155321" y="38100"/>
                  </a:lnTo>
                  <a:cubicBezTo>
                    <a:pt x="90551" y="38100"/>
                    <a:pt x="38100" y="90297"/>
                    <a:pt x="38100" y="154559"/>
                  </a:cubicBezTo>
                  <a:close/>
                </a:path>
              </a:pathLst>
            </a:custGeom>
            <a:solidFill>
              <a:srgbClr val="C0C1D7"/>
            </a:solidFill>
          </p:spPr>
        </p:sp>
      </p:grpSp>
      <p:grpSp>
        <p:nvGrpSpPr>
          <p:cNvPr name="Group 10" id="10"/>
          <p:cNvGrpSpPr/>
          <p:nvPr/>
        </p:nvGrpSpPr>
        <p:grpSpPr>
          <a:xfrm rot="0">
            <a:off x="875709" y="2483644"/>
            <a:ext cx="8136436" cy="726129"/>
            <a:chOff x="0" y="0"/>
            <a:chExt cx="10848581" cy="968172"/>
          </a:xfrm>
        </p:grpSpPr>
        <p:sp>
          <p:nvSpPr>
            <p:cNvPr name="Freeform 11" id="11"/>
            <p:cNvSpPr/>
            <p:nvPr/>
          </p:nvSpPr>
          <p:spPr>
            <a:xfrm flipH="false" flipV="false" rot="0">
              <a:off x="0" y="0"/>
              <a:ext cx="10848467" cy="968121"/>
            </a:xfrm>
            <a:custGeom>
              <a:avLst/>
              <a:gdLst/>
              <a:ahLst/>
              <a:cxnLst/>
              <a:rect r="r" b="b" t="t" l="l"/>
              <a:pathLst>
                <a:path h="968121" w="10848467">
                  <a:moveTo>
                    <a:pt x="0" y="89789"/>
                  </a:moveTo>
                  <a:cubicBezTo>
                    <a:pt x="0" y="40259"/>
                    <a:pt x="40259" y="0"/>
                    <a:pt x="89789" y="0"/>
                  </a:cubicBezTo>
                  <a:lnTo>
                    <a:pt x="10758678" y="0"/>
                  </a:lnTo>
                  <a:cubicBezTo>
                    <a:pt x="10808335" y="0"/>
                    <a:pt x="10848467" y="40259"/>
                    <a:pt x="10848467" y="89789"/>
                  </a:cubicBezTo>
                  <a:lnTo>
                    <a:pt x="10848467" y="878332"/>
                  </a:lnTo>
                  <a:cubicBezTo>
                    <a:pt x="10848467" y="927989"/>
                    <a:pt x="10808208" y="968121"/>
                    <a:pt x="10758678" y="968121"/>
                  </a:cubicBezTo>
                  <a:lnTo>
                    <a:pt x="89789" y="968121"/>
                  </a:lnTo>
                  <a:cubicBezTo>
                    <a:pt x="40259" y="968121"/>
                    <a:pt x="0" y="927989"/>
                    <a:pt x="0" y="878332"/>
                  </a:cubicBezTo>
                  <a:close/>
                </a:path>
              </a:pathLst>
            </a:custGeom>
            <a:solidFill>
              <a:srgbClr val="DADBF1"/>
            </a:solidFill>
          </p:spPr>
        </p:sp>
      </p:grpSp>
      <p:sp>
        <p:nvSpPr>
          <p:cNvPr name="Freeform 12" id="12" descr="preencoded.png"/>
          <p:cNvSpPr/>
          <p:nvPr/>
        </p:nvSpPr>
        <p:spPr>
          <a:xfrm flipH="false" flipV="false" rot="0">
            <a:off x="4762348" y="2660447"/>
            <a:ext cx="362988" cy="362988"/>
          </a:xfrm>
          <a:custGeom>
            <a:avLst/>
            <a:gdLst/>
            <a:ahLst/>
            <a:cxnLst/>
            <a:rect r="r" b="b" t="t" l="l"/>
            <a:pathLst>
              <a:path h="362988" w="362988">
                <a:moveTo>
                  <a:pt x="0" y="0"/>
                </a:moveTo>
                <a:lnTo>
                  <a:pt x="362988" y="0"/>
                </a:lnTo>
                <a:lnTo>
                  <a:pt x="362988" y="362988"/>
                </a:lnTo>
                <a:lnTo>
                  <a:pt x="0" y="362988"/>
                </a:lnTo>
                <a:lnTo>
                  <a:pt x="0" y="0"/>
                </a:lnTo>
                <a:close/>
              </a:path>
            </a:pathLst>
          </a:custGeom>
          <a:blipFill>
            <a:blip r:embed="rId3">
              <a:extLst>
                <a:ext uri="{96DAC541-7B7A-43D3-8B79-37D633B846F1}">
                  <asvg:svgBlip xmlns:asvg="http://schemas.microsoft.com/office/drawing/2016/SVG/main" r:embed="rId4"/>
                </a:ext>
              </a:extLst>
            </a:blip>
            <a:stretch>
              <a:fillRect l="0" t="-10257" r="0" b="-10257"/>
            </a:stretch>
          </a:blipFill>
        </p:spPr>
      </p:sp>
      <p:sp>
        <p:nvSpPr>
          <p:cNvPr name="TextBox 13" id="13"/>
          <p:cNvSpPr txBox="true"/>
          <p:nvPr/>
        </p:nvSpPr>
        <p:spPr>
          <a:xfrm rot="0">
            <a:off x="1117702" y="3406826"/>
            <a:ext cx="3500438" cy="387696"/>
          </a:xfrm>
          <a:prstGeom prst="rect">
            <a:avLst/>
          </a:prstGeom>
        </p:spPr>
        <p:txBody>
          <a:bodyPr anchor="t" rtlCol="false" tIns="0" lIns="0" bIns="0" rIns="0">
            <a:spAutoFit/>
          </a:bodyPr>
          <a:lstStyle/>
          <a:p>
            <a:pPr algn="l">
              <a:lnSpc>
                <a:spcPts val="2937"/>
              </a:lnSpc>
            </a:pPr>
            <a:r>
              <a:rPr lang="en-US" sz="2375" b="true">
                <a:solidFill>
                  <a:srgbClr val="272525"/>
                </a:solidFill>
                <a:latin typeface="Inter Bold"/>
                <a:ea typeface="Inter Bold"/>
                <a:cs typeface="Inter Bold"/>
                <a:sym typeface="Inter Bold"/>
              </a:rPr>
              <a:t>Limited Wrong Guesses</a:t>
            </a:r>
          </a:p>
        </p:txBody>
      </p:sp>
      <p:sp>
        <p:nvSpPr>
          <p:cNvPr name="TextBox 14" id="14"/>
          <p:cNvSpPr txBox="true"/>
          <p:nvPr/>
        </p:nvSpPr>
        <p:spPr>
          <a:xfrm rot="0">
            <a:off x="1117702" y="3861349"/>
            <a:ext cx="7652442" cy="1493044"/>
          </a:xfrm>
          <a:prstGeom prst="rect">
            <a:avLst/>
          </a:prstGeom>
        </p:spPr>
        <p:txBody>
          <a:bodyPr anchor="t" rtlCol="false" tIns="0" lIns="0" bIns="0" rIns="0">
            <a:spAutoFit/>
          </a:bodyPr>
          <a:lstStyle/>
          <a:p>
            <a:pPr algn="l">
              <a:lnSpc>
                <a:spcPts val="2812"/>
              </a:lnSpc>
            </a:pPr>
            <a:r>
              <a:rPr lang="en-US" sz="1874">
                <a:solidFill>
                  <a:srgbClr val="272525"/>
                </a:solidFill>
                <a:latin typeface="Inter"/>
                <a:ea typeface="Inter"/>
                <a:cs typeface="Inter"/>
                <a:sym typeface="Inter"/>
              </a:rPr>
              <a:t>The game restricts the number of allowed incorrect guesses. Even when following an optimal strategy, the AI can reach this limit and fail if it encounters an unlucky sequence of hidden letters early in the game.</a:t>
            </a:r>
          </a:p>
        </p:txBody>
      </p:sp>
      <p:grpSp>
        <p:nvGrpSpPr>
          <p:cNvPr name="Group 15" id="15"/>
          <p:cNvGrpSpPr/>
          <p:nvPr/>
        </p:nvGrpSpPr>
        <p:grpSpPr>
          <a:xfrm rot="0">
            <a:off x="9233002" y="2440781"/>
            <a:ext cx="8222161" cy="3198466"/>
            <a:chOff x="0" y="0"/>
            <a:chExt cx="10962881" cy="4264622"/>
          </a:xfrm>
        </p:grpSpPr>
        <p:sp>
          <p:nvSpPr>
            <p:cNvPr name="Freeform 16" id="16"/>
            <p:cNvSpPr/>
            <p:nvPr/>
          </p:nvSpPr>
          <p:spPr>
            <a:xfrm flipH="false" flipV="false" rot="0">
              <a:off x="19050" y="19050"/>
              <a:ext cx="10924794" cy="4226433"/>
            </a:xfrm>
            <a:custGeom>
              <a:avLst/>
              <a:gdLst/>
              <a:ahLst/>
              <a:cxnLst/>
              <a:rect r="r" b="b" t="t" l="l"/>
              <a:pathLst>
                <a:path h="4226433" w="10924794">
                  <a:moveTo>
                    <a:pt x="0" y="135509"/>
                  </a:moveTo>
                  <a:cubicBezTo>
                    <a:pt x="0" y="60706"/>
                    <a:pt x="60960" y="0"/>
                    <a:pt x="136271" y="0"/>
                  </a:cubicBezTo>
                  <a:lnTo>
                    <a:pt x="10788523" y="0"/>
                  </a:lnTo>
                  <a:cubicBezTo>
                    <a:pt x="10863834" y="0"/>
                    <a:pt x="10924794" y="60706"/>
                    <a:pt x="10924794" y="135509"/>
                  </a:cubicBezTo>
                  <a:lnTo>
                    <a:pt x="10924794" y="4090924"/>
                  </a:lnTo>
                  <a:cubicBezTo>
                    <a:pt x="10924794" y="4165727"/>
                    <a:pt x="10863834" y="4226433"/>
                    <a:pt x="10788523" y="4226433"/>
                  </a:cubicBezTo>
                  <a:lnTo>
                    <a:pt x="136271" y="4226433"/>
                  </a:lnTo>
                  <a:cubicBezTo>
                    <a:pt x="60960" y="4226433"/>
                    <a:pt x="0" y="4165727"/>
                    <a:pt x="0" y="4090924"/>
                  </a:cubicBezTo>
                  <a:close/>
                </a:path>
              </a:pathLst>
            </a:custGeom>
            <a:solidFill>
              <a:srgbClr val="FFFFFF"/>
            </a:solidFill>
          </p:spPr>
        </p:sp>
        <p:sp>
          <p:nvSpPr>
            <p:cNvPr name="Freeform 17" id="17"/>
            <p:cNvSpPr/>
            <p:nvPr/>
          </p:nvSpPr>
          <p:spPr>
            <a:xfrm flipH="false" flipV="false" rot="0">
              <a:off x="0" y="0"/>
              <a:ext cx="10962894" cy="4264533"/>
            </a:xfrm>
            <a:custGeom>
              <a:avLst/>
              <a:gdLst/>
              <a:ahLst/>
              <a:cxnLst/>
              <a:rect r="r" b="b" t="t" l="l"/>
              <a:pathLst>
                <a:path h="4264533" w="10962894">
                  <a:moveTo>
                    <a:pt x="0" y="154559"/>
                  </a:moveTo>
                  <a:cubicBezTo>
                    <a:pt x="0" y="69088"/>
                    <a:pt x="69596" y="0"/>
                    <a:pt x="155321" y="0"/>
                  </a:cubicBezTo>
                  <a:lnTo>
                    <a:pt x="10807573" y="0"/>
                  </a:lnTo>
                  <a:lnTo>
                    <a:pt x="10807573" y="19050"/>
                  </a:lnTo>
                  <a:lnTo>
                    <a:pt x="10807573" y="0"/>
                  </a:lnTo>
                  <a:cubicBezTo>
                    <a:pt x="10893298" y="0"/>
                    <a:pt x="10962894" y="69088"/>
                    <a:pt x="10962894" y="154559"/>
                  </a:cubicBezTo>
                  <a:lnTo>
                    <a:pt x="10943844" y="154559"/>
                  </a:lnTo>
                  <a:lnTo>
                    <a:pt x="10962894" y="154559"/>
                  </a:lnTo>
                  <a:lnTo>
                    <a:pt x="10962894" y="4109974"/>
                  </a:lnTo>
                  <a:lnTo>
                    <a:pt x="10943844" y="4109974"/>
                  </a:lnTo>
                  <a:lnTo>
                    <a:pt x="10962894" y="4109974"/>
                  </a:lnTo>
                  <a:cubicBezTo>
                    <a:pt x="10962894" y="4195445"/>
                    <a:pt x="10893298" y="4264533"/>
                    <a:pt x="10807573" y="4264533"/>
                  </a:cubicBezTo>
                  <a:lnTo>
                    <a:pt x="10807573" y="4245483"/>
                  </a:lnTo>
                  <a:lnTo>
                    <a:pt x="10807573" y="4264533"/>
                  </a:lnTo>
                  <a:lnTo>
                    <a:pt x="155321" y="4264533"/>
                  </a:lnTo>
                  <a:lnTo>
                    <a:pt x="155321" y="4245483"/>
                  </a:lnTo>
                  <a:lnTo>
                    <a:pt x="155321" y="4264533"/>
                  </a:lnTo>
                  <a:cubicBezTo>
                    <a:pt x="69596" y="4264660"/>
                    <a:pt x="0" y="4195445"/>
                    <a:pt x="0" y="4109974"/>
                  </a:cubicBezTo>
                  <a:lnTo>
                    <a:pt x="0" y="154559"/>
                  </a:lnTo>
                  <a:lnTo>
                    <a:pt x="19050" y="154559"/>
                  </a:lnTo>
                  <a:lnTo>
                    <a:pt x="0" y="154559"/>
                  </a:lnTo>
                  <a:moveTo>
                    <a:pt x="38100" y="154559"/>
                  </a:moveTo>
                  <a:lnTo>
                    <a:pt x="38100" y="4109974"/>
                  </a:lnTo>
                  <a:lnTo>
                    <a:pt x="19050" y="4109974"/>
                  </a:lnTo>
                  <a:lnTo>
                    <a:pt x="38100" y="4109974"/>
                  </a:lnTo>
                  <a:cubicBezTo>
                    <a:pt x="38100" y="4174236"/>
                    <a:pt x="90551" y="4226433"/>
                    <a:pt x="155321" y="4226433"/>
                  </a:cubicBezTo>
                  <a:lnTo>
                    <a:pt x="10807573" y="4226433"/>
                  </a:lnTo>
                  <a:cubicBezTo>
                    <a:pt x="10872470" y="4226433"/>
                    <a:pt x="10924794" y="4174236"/>
                    <a:pt x="10924794" y="4109974"/>
                  </a:cubicBezTo>
                  <a:lnTo>
                    <a:pt x="10924794" y="154559"/>
                  </a:lnTo>
                  <a:cubicBezTo>
                    <a:pt x="10924794" y="90297"/>
                    <a:pt x="10872343" y="38100"/>
                    <a:pt x="10807573" y="38100"/>
                  </a:cubicBezTo>
                  <a:lnTo>
                    <a:pt x="155321" y="38100"/>
                  </a:lnTo>
                  <a:lnTo>
                    <a:pt x="155321" y="19050"/>
                  </a:lnTo>
                  <a:lnTo>
                    <a:pt x="155321" y="38100"/>
                  </a:lnTo>
                  <a:cubicBezTo>
                    <a:pt x="90551" y="38100"/>
                    <a:pt x="38100" y="90297"/>
                    <a:pt x="38100" y="154559"/>
                  </a:cubicBezTo>
                  <a:close/>
                </a:path>
              </a:pathLst>
            </a:custGeom>
            <a:solidFill>
              <a:srgbClr val="C0C1D7"/>
            </a:solidFill>
          </p:spPr>
        </p:sp>
      </p:grpSp>
      <p:grpSp>
        <p:nvGrpSpPr>
          <p:cNvPr name="Group 18" id="18"/>
          <p:cNvGrpSpPr/>
          <p:nvPr/>
        </p:nvGrpSpPr>
        <p:grpSpPr>
          <a:xfrm rot="0">
            <a:off x="9275864" y="2483644"/>
            <a:ext cx="8136436" cy="726129"/>
            <a:chOff x="0" y="0"/>
            <a:chExt cx="10848581" cy="968172"/>
          </a:xfrm>
        </p:grpSpPr>
        <p:sp>
          <p:nvSpPr>
            <p:cNvPr name="Freeform 19" id="19"/>
            <p:cNvSpPr/>
            <p:nvPr/>
          </p:nvSpPr>
          <p:spPr>
            <a:xfrm flipH="false" flipV="false" rot="0">
              <a:off x="0" y="0"/>
              <a:ext cx="10848467" cy="968121"/>
            </a:xfrm>
            <a:custGeom>
              <a:avLst/>
              <a:gdLst/>
              <a:ahLst/>
              <a:cxnLst/>
              <a:rect r="r" b="b" t="t" l="l"/>
              <a:pathLst>
                <a:path h="968121" w="10848467">
                  <a:moveTo>
                    <a:pt x="0" y="89789"/>
                  </a:moveTo>
                  <a:cubicBezTo>
                    <a:pt x="0" y="40259"/>
                    <a:pt x="40259" y="0"/>
                    <a:pt x="89789" y="0"/>
                  </a:cubicBezTo>
                  <a:lnTo>
                    <a:pt x="10758678" y="0"/>
                  </a:lnTo>
                  <a:cubicBezTo>
                    <a:pt x="10808335" y="0"/>
                    <a:pt x="10848467" y="40259"/>
                    <a:pt x="10848467" y="89789"/>
                  </a:cubicBezTo>
                  <a:lnTo>
                    <a:pt x="10848467" y="878332"/>
                  </a:lnTo>
                  <a:cubicBezTo>
                    <a:pt x="10848467" y="927989"/>
                    <a:pt x="10808208" y="968121"/>
                    <a:pt x="10758678" y="968121"/>
                  </a:cubicBezTo>
                  <a:lnTo>
                    <a:pt x="89789" y="968121"/>
                  </a:lnTo>
                  <a:cubicBezTo>
                    <a:pt x="40259" y="968121"/>
                    <a:pt x="0" y="927989"/>
                    <a:pt x="0" y="878332"/>
                  </a:cubicBezTo>
                  <a:close/>
                </a:path>
              </a:pathLst>
            </a:custGeom>
            <a:solidFill>
              <a:srgbClr val="DADBF1"/>
            </a:solidFill>
          </p:spPr>
        </p:sp>
      </p:grpSp>
      <p:sp>
        <p:nvSpPr>
          <p:cNvPr name="Freeform 20" id="20" descr="preencoded.png"/>
          <p:cNvSpPr/>
          <p:nvPr/>
        </p:nvSpPr>
        <p:spPr>
          <a:xfrm flipH="false" flipV="false" rot="0">
            <a:off x="13162512" y="2660447"/>
            <a:ext cx="362988" cy="362988"/>
          </a:xfrm>
          <a:custGeom>
            <a:avLst/>
            <a:gdLst/>
            <a:ahLst/>
            <a:cxnLst/>
            <a:rect r="r" b="b" t="t" l="l"/>
            <a:pathLst>
              <a:path h="362988" w="362988">
                <a:moveTo>
                  <a:pt x="0" y="0"/>
                </a:moveTo>
                <a:lnTo>
                  <a:pt x="362988" y="0"/>
                </a:lnTo>
                <a:lnTo>
                  <a:pt x="362988" y="362988"/>
                </a:lnTo>
                <a:lnTo>
                  <a:pt x="0" y="362988"/>
                </a:lnTo>
                <a:lnTo>
                  <a:pt x="0" y="0"/>
                </a:lnTo>
                <a:close/>
              </a:path>
            </a:pathLst>
          </a:custGeom>
          <a:blipFill>
            <a:blip r:embed="rId5">
              <a:extLst>
                <a:ext uri="{96DAC541-7B7A-43D3-8B79-37D633B846F1}">
                  <asvg:svgBlip xmlns:asvg="http://schemas.microsoft.com/office/drawing/2016/SVG/main" r:embed="rId6"/>
                </a:ext>
              </a:extLst>
            </a:blip>
            <a:stretch>
              <a:fillRect l="0" t="-6410" r="0" b="-6410"/>
            </a:stretch>
          </a:blipFill>
        </p:spPr>
      </p:sp>
      <p:sp>
        <p:nvSpPr>
          <p:cNvPr name="TextBox 21" id="21"/>
          <p:cNvSpPr txBox="true"/>
          <p:nvPr/>
        </p:nvSpPr>
        <p:spPr>
          <a:xfrm rot="0">
            <a:off x="9517856" y="3406826"/>
            <a:ext cx="3652095" cy="387696"/>
          </a:xfrm>
          <a:prstGeom prst="rect">
            <a:avLst/>
          </a:prstGeom>
        </p:spPr>
        <p:txBody>
          <a:bodyPr anchor="t" rtlCol="false" tIns="0" lIns="0" bIns="0" rIns="0">
            <a:spAutoFit/>
          </a:bodyPr>
          <a:lstStyle/>
          <a:p>
            <a:pPr algn="l">
              <a:lnSpc>
                <a:spcPts val="2937"/>
              </a:lnSpc>
            </a:pPr>
            <a:r>
              <a:rPr lang="en-US" sz="2375" b="true">
                <a:solidFill>
                  <a:srgbClr val="272525"/>
                </a:solidFill>
                <a:latin typeface="Inter Bold"/>
                <a:ea typeface="Inter Bold"/>
                <a:cs typeface="Inter Bold"/>
                <a:sym typeface="Inter Bold"/>
              </a:rPr>
              <a:t>Similar Dictionary Words</a:t>
            </a:r>
          </a:p>
        </p:txBody>
      </p:sp>
      <p:sp>
        <p:nvSpPr>
          <p:cNvPr name="TextBox 22" id="22"/>
          <p:cNvSpPr txBox="true"/>
          <p:nvPr/>
        </p:nvSpPr>
        <p:spPr>
          <a:xfrm rot="0">
            <a:off x="9517856" y="3861349"/>
            <a:ext cx="7652442" cy="1493044"/>
          </a:xfrm>
          <a:prstGeom prst="rect">
            <a:avLst/>
          </a:prstGeom>
        </p:spPr>
        <p:txBody>
          <a:bodyPr anchor="t" rtlCol="false" tIns="0" lIns="0" bIns="0" rIns="0">
            <a:spAutoFit/>
          </a:bodyPr>
          <a:lstStyle/>
          <a:p>
            <a:pPr algn="l">
              <a:lnSpc>
                <a:spcPts val="2812"/>
              </a:lnSpc>
            </a:pPr>
            <a:r>
              <a:rPr lang="en-US" sz="1874">
                <a:solidFill>
                  <a:srgbClr val="272525"/>
                </a:solidFill>
                <a:latin typeface="Inter"/>
                <a:ea typeface="Inter"/>
                <a:cs typeface="Inter"/>
                <a:sym typeface="Inter"/>
              </a:rPr>
              <a:t>When multiple candidate words fit the same revealed letter pattern, the AI's frequency analysis may struggle to narrow down the choices effectively, leading to ambiguous guesses that do not eliminate enough possibilities.</a:t>
            </a:r>
          </a:p>
        </p:txBody>
      </p:sp>
      <p:grpSp>
        <p:nvGrpSpPr>
          <p:cNvPr name="Group 23" id="23"/>
          <p:cNvGrpSpPr/>
          <p:nvPr/>
        </p:nvGrpSpPr>
        <p:grpSpPr>
          <a:xfrm rot="0">
            <a:off x="832847" y="5817241"/>
            <a:ext cx="8222161" cy="3198466"/>
            <a:chOff x="0" y="0"/>
            <a:chExt cx="10962881" cy="4264622"/>
          </a:xfrm>
        </p:grpSpPr>
        <p:sp>
          <p:nvSpPr>
            <p:cNvPr name="Freeform 24" id="24"/>
            <p:cNvSpPr/>
            <p:nvPr/>
          </p:nvSpPr>
          <p:spPr>
            <a:xfrm flipH="false" flipV="false" rot="0">
              <a:off x="19050" y="19050"/>
              <a:ext cx="10924794" cy="4226433"/>
            </a:xfrm>
            <a:custGeom>
              <a:avLst/>
              <a:gdLst/>
              <a:ahLst/>
              <a:cxnLst/>
              <a:rect r="r" b="b" t="t" l="l"/>
              <a:pathLst>
                <a:path h="4226433" w="10924794">
                  <a:moveTo>
                    <a:pt x="0" y="135509"/>
                  </a:moveTo>
                  <a:cubicBezTo>
                    <a:pt x="0" y="60706"/>
                    <a:pt x="60960" y="0"/>
                    <a:pt x="136271" y="0"/>
                  </a:cubicBezTo>
                  <a:lnTo>
                    <a:pt x="10788523" y="0"/>
                  </a:lnTo>
                  <a:cubicBezTo>
                    <a:pt x="10863834" y="0"/>
                    <a:pt x="10924794" y="60706"/>
                    <a:pt x="10924794" y="135509"/>
                  </a:cubicBezTo>
                  <a:lnTo>
                    <a:pt x="10924794" y="4090924"/>
                  </a:lnTo>
                  <a:cubicBezTo>
                    <a:pt x="10924794" y="4165727"/>
                    <a:pt x="10863834" y="4226433"/>
                    <a:pt x="10788523" y="4226433"/>
                  </a:cubicBezTo>
                  <a:lnTo>
                    <a:pt x="136271" y="4226433"/>
                  </a:lnTo>
                  <a:cubicBezTo>
                    <a:pt x="60960" y="4226433"/>
                    <a:pt x="0" y="4165727"/>
                    <a:pt x="0" y="4090924"/>
                  </a:cubicBezTo>
                  <a:close/>
                </a:path>
              </a:pathLst>
            </a:custGeom>
            <a:solidFill>
              <a:srgbClr val="FFFFFF"/>
            </a:solidFill>
          </p:spPr>
        </p:sp>
        <p:sp>
          <p:nvSpPr>
            <p:cNvPr name="Freeform 25" id="25"/>
            <p:cNvSpPr/>
            <p:nvPr/>
          </p:nvSpPr>
          <p:spPr>
            <a:xfrm flipH="false" flipV="false" rot="0">
              <a:off x="0" y="0"/>
              <a:ext cx="10962894" cy="4264533"/>
            </a:xfrm>
            <a:custGeom>
              <a:avLst/>
              <a:gdLst/>
              <a:ahLst/>
              <a:cxnLst/>
              <a:rect r="r" b="b" t="t" l="l"/>
              <a:pathLst>
                <a:path h="4264533" w="10962894">
                  <a:moveTo>
                    <a:pt x="0" y="154559"/>
                  </a:moveTo>
                  <a:cubicBezTo>
                    <a:pt x="0" y="69088"/>
                    <a:pt x="69596" y="0"/>
                    <a:pt x="155321" y="0"/>
                  </a:cubicBezTo>
                  <a:lnTo>
                    <a:pt x="10807573" y="0"/>
                  </a:lnTo>
                  <a:lnTo>
                    <a:pt x="10807573" y="19050"/>
                  </a:lnTo>
                  <a:lnTo>
                    <a:pt x="10807573" y="0"/>
                  </a:lnTo>
                  <a:cubicBezTo>
                    <a:pt x="10893298" y="0"/>
                    <a:pt x="10962894" y="69088"/>
                    <a:pt x="10962894" y="154559"/>
                  </a:cubicBezTo>
                  <a:lnTo>
                    <a:pt x="10943844" y="154559"/>
                  </a:lnTo>
                  <a:lnTo>
                    <a:pt x="10962894" y="154559"/>
                  </a:lnTo>
                  <a:lnTo>
                    <a:pt x="10962894" y="4109974"/>
                  </a:lnTo>
                  <a:lnTo>
                    <a:pt x="10943844" y="4109974"/>
                  </a:lnTo>
                  <a:lnTo>
                    <a:pt x="10962894" y="4109974"/>
                  </a:lnTo>
                  <a:cubicBezTo>
                    <a:pt x="10962894" y="4195445"/>
                    <a:pt x="10893298" y="4264533"/>
                    <a:pt x="10807573" y="4264533"/>
                  </a:cubicBezTo>
                  <a:lnTo>
                    <a:pt x="10807573" y="4245483"/>
                  </a:lnTo>
                  <a:lnTo>
                    <a:pt x="10807573" y="4264533"/>
                  </a:lnTo>
                  <a:lnTo>
                    <a:pt x="155321" y="4264533"/>
                  </a:lnTo>
                  <a:lnTo>
                    <a:pt x="155321" y="4245483"/>
                  </a:lnTo>
                  <a:lnTo>
                    <a:pt x="155321" y="4264533"/>
                  </a:lnTo>
                  <a:cubicBezTo>
                    <a:pt x="69596" y="4264660"/>
                    <a:pt x="0" y="4195445"/>
                    <a:pt x="0" y="4109974"/>
                  </a:cubicBezTo>
                  <a:lnTo>
                    <a:pt x="0" y="154559"/>
                  </a:lnTo>
                  <a:lnTo>
                    <a:pt x="19050" y="154559"/>
                  </a:lnTo>
                  <a:lnTo>
                    <a:pt x="0" y="154559"/>
                  </a:lnTo>
                  <a:moveTo>
                    <a:pt x="38100" y="154559"/>
                  </a:moveTo>
                  <a:lnTo>
                    <a:pt x="38100" y="4109974"/>
                  </a:lnTo>
                  <a:lnTo>
                    <a:pt x="19050" y="4109974"/>
                  </a:lnTo>
                  <a:lnTo>
                    <a:pt x="38100" y="4109974"/>
                  </a:lnTo>
                  <a:cubicBezTo>
                    <a:pt x="38100" y="4174236"/>
                    <a:pt x="90551" y="4226433"/>
                    <a:pt x="155321" y="4226433"/>
                  </a:cubicBezTo>
                  <a:lnTo>
                    <a:pt x="10807573" y="4226433"/>
                  </a:lnTo>
                  <a:cubicBezTo>
                    <a:pt x="10872470" y="4226433"/>
                    <a:pt x="10924794" y="4174236"/>
                    <a:pt x="10924794" y="4109974"/>
                  </a:cubicBezTo>
                  <a:lnTo>
                    <a:pt x="10924794" y="154559"/>
                  </a:lnTo>
                  <a:cubicBezTo>
                    <a:pt x="10924794" y="90297"/>
                    <a:pt x="10872343" y="38100"/>
                    <a:pt x="10807573" y="38100"/>
                  </a:cubicBezTo>
                  <a:lnTo>
                    <a:pt x="155321" y="38100"/>
                  </a:lnTo>
                  <a:lnTo>
                    <a:pt x="155321" y="19050"/>
                  </a:lnTo>
                  <a:lnTo>
                    <a:pt x="155321" y="38100"/>
                  </a:lnTo>
                  <a:cubicBezTo>
                    <a:pt x="90551" y="38100"/>
                    <a:pt x="38100" y="90297"/>
                    <a:pt x="38100" y="154559"/>
                  </a:cubicBezTo>
                  <a:close/>
                </a:path>
              </a:pathLst>
            </a:custGeom>
            <a:solidFill>
              <a:srgbClr val="C0C1D7"/>
            </a:solidFill>
          </p:spPr>
        </p:sp>
      </p:grpSp>
      <p:grpSp>
        <p:nvGrpSpPr>
          <p:cNvPr name="Group 26" id="26"/>
          <p:cNvGrpSpPr/>
          <p:nvPr/>
        </p:nvGrpSpPr>
        <p:grpSpPr>
          <a:xfrm rot="0">
            <a:off x="875709" y="5860104"/>
            <a:ext cx="8136436" cy="726129"/>
            <a:chOff x="0" y="0"/>
            <a:chExt cx="10848581" cy="968172"/>
          </a:xfrm>
        </p:grpSpPr>
        <p:sp>
          <p:nvSpPr>
            <p:cNvPr name="Freeform 27" id="27"/>
            <p:cNvSpPr/>
            <p:nvPr/>
          </p:nvSpPr>
          <p:spPr>
            <a:xfrm flipH="false" flipV="false" rot="0">
              <a:off x="0" y="0"/>
              <a:ext cx="10848467" cy="968121"/>
            </a:xfrm>
            <a:custGeom>
              <a:avLst/>
              <a:gdLst/>
              <a:ahLst/>
              <a:cxnLst/>
              <a:rect r="r" b="b" t="t" l="l"/>
              <a:pathLst>
                <a:path h="968121" w="10848467">
                  <a:moveTo>
                    <a:pt x="0" y="89789"/>
                  </a:moveTo>
                  <a:cubicBezTo>
                    <a:pt x="0" y="40259"/>
                    <a:pt x="40259" y="0"/>
                    <a:pt x="89789" y="0"/>
                  </a:cubicBezTo>
                  <a:lnTo>
                    <a:pt x="10758678" y="0"/>
                  </a:lnTo>
                  <a:cubicBezTo>
                    <a:pt x="10808335" y="0"/>
                    <a:pt x="10848467" y="40259"/>
                    <a:pt x="10848467" y="89789"/>
                  </a:cubicBezTo>
                  <a:lnTo>
                    <a:pt x="10848467" y="878332"/>
                  </a:lnTo>
                  <a:cubicBezTo>
                    <a:pt x="10848467" y="927989"/>
                    <a:pt x="10808208" y="968121"/>
                    <a:pt x="10758678" y="968121"/>
                  </a:cubicBezTo>
                  <a:lnTo>
                    <a:pt x="89789" y="968121"/>
                  </a:lnTo>
                  <a:cubicBezTo>
                    <a:pt x="40259" y="968121"/>
                    <a:pt x="0" y="927989"/>
                    <a:pt x="0" y="878332"/>
                  </a:cubicBezTo>
                  <a:close/>
                </a:path>
              </a:pathLst>
            </a:custGeom>
            <a:solidFill>
              <a:srgbClr val="DADBF1"/>
            </a:solidFill>
          </p:spPr>
        </p:sp>
      </p:grpSp>
      <p:sp>
        <p:nvSpPr>
          <p:cNvPr name="Freeform 28" id="28" descr="preencoded.png"/>
          <p:cNvSpPr/>
          <p:nvPr/>
        </p:nvSpPr>
        <p:spPr>
          <a:xfrm flipH="false" flipV="false" rot="0">
            <a:off x="4762348" y="6036916"/>
            <a:ext cx="362988" cy="362988"/>
          </a:xfrm>
          <a:custGeom>
            <a:avLst/>
            <a:gdLst/>
            <a:ahLst/>
            <a:cxnLst/>
            <a:rect r="r" b="b" t="t" l="l"/>
            <a:pathLst>
              <a:path h="362988" w="362988">
                <a:moveTo>
                  <a:pt x="0" y="0"/>
                </a:moveTo>
                <a:lnTo>
                  <a:pt x="362988" y="0"/>
                </a:lnTo>
                <a:lnTo>
                  <a:pt x="362988" y="362989"/>
                </a:lnTo>
                <a:lnTo>
                  <a:pt x="0" y="362989"/>
                </a:lnTo>
                <a:lnTo>
                  <a:pt x="0" y="0"/>
                </a:lnTo>
                <a:close/>
              </a:path>
            </a:pathLst>
          </a:custGeom>
          <a:blipFill>
            <a:blip r:embed="rId7">
              <a:extLst>
                <a:ext uri="{96DAC541-7B7A-43D3-8B79-37D633B846F1}">
                  <asvg:svgBlip xmlns:asvg="http://schemas.microsoft.com/office/drawing/2016/SVG/main" r:embed="rId8"/>
                </a:ext>
              </a:extLst>
            </a:blip>
            <a:stretch>
              <a:fillRect l="0" t="-2563" r="0" b="-2566"/>
            </a:stretch>
          </a:blipFill>
        </p:spPr>
      </p:sp>
      <p:sp>
        <p:nvSpPr>
          <p:cNvPr name="TextBox 29" id="29"/>
          <p:cNvSpPr txBox="true"/>
          <p:nvPr/>
        </p:nvSpPr>
        <p:spPr>
          <a:xfrm rot="0">
            <a:off x="1117702" y="6783286"/>
            <a:ext cx="4019255" cy="387696"/>
          </a:xfrm>
          <a:prstGeom prst="rect">
            <a:avLst/>
          </a:prstGeom>
        </p:spPr>
        <p:txBody>
          <a:bodyPr anchor="t" rtlCol="false" tIns="0" lIns="0" bIns="0" rIns="0">
            <a:spAutoFit/>
          </a:bodyPr>
          <a:lstStyle/>
          <a:p>
            <a:pPr algn="l">
              <a:lnSpc>
                <a:spcPts val="2937"/>
              </a:lnSpc>
            </a:pPr>
            <a:r>
              <a:rPr lang="en-US" sz="2375" b="true">
                <a:solidFill>
                  <a:srgbClr val="272525"/>
                </a:solidFill>
                <a:latin typeface="Inter Bold"/>
                <a:ea typeface="Inter Bold"/>
                <a:cs typeface="Inter Bold"/>
                <a:sym typeface="Inter Bold"/>
              </a:rPr>
              <a:t>Adversarial Word Selection</a:t>
            </a:r>
          </a:p>
        </p:txBody>
      </p:sp>
      <p:sp>
        <p:nvSpPr>
          <p:cNvPr name="TextBox 30" id="30"/>
          <p:cNvSpPr txBox="true"/>
          <p:nvPr/>
        </p:nvSpPr>
        <p:spPr>
          <a:xfrm rot="0">
            <a:off x="1117702" y="7237809"/>
            <a:ext cx="7652442" cy="1134066"/>
          </a:xfrm>
          <a:prstGeom prst="rect">
            <a:avLst/>
          </a:prstGeom>
        </p:spPr>
        <p:txBody>
          <a:bodyPr anchor="t" rtlCol="false" tIns="0" lIns="0" bIns="0" rIns="0">
            <a:spAutoFit/>
          </a:bodyPr>
          <a:lstStyle/>
          <a:p>
            <a:pPr algn="l">
              <a:lnSpc>
                <a:spcPts val="2812"/>
              </a:lnSpc>
            </a:pPr>
            <a:r>
              <a:rPr lang="en-US" sz="1874">
                <a:solidFill>
                  <a:srgbClr val="272525"/>
                </a:solidFill>
                <a:latin typeface="Inter"/>
                <a:ea typeface="Inter"/>
                <a:cs typeface="Inter"/>
                <a:sym typeface="Inter"/>
              </a:rPr>
              <a:t>If the word chooser deliberately picks rare or low-frequency words, the heuristic's statistical assumptions break down, leading to suboptimal guesses.</a:t>
            </a:r>
          </a:p>
        </p:txBody>
      </p:sp>
      <p:grpSp>
        <p:nvGrpSpPr>
          <p:cNvPr name="Group 31" id="31"/>
          <p:cNvGrpSpPr/>
          <p:nvPr/>
        </p:nvGrpSpPr>
        <p:grpSpPr>
          <a:xfrm rot="0">
            <a:off x="9233002" y="5817241"/>
            <a:ext cx="8222161" cy="3198466"/>
            <a:chOff x="0" y="0"/>
            <a:chExt cx="10962881" cy="4264622"/>
          </a:xfrm>
        </p:grpSpPr>
        <p:sp>
          <p:nvSpPr>
            <p:cNvPr name="Freeform 32" id="32"/>
            <p:cNvSpPr/>
            <p:nvPr/>
          </p:nvSpPr>
          <p:spPr>
            <a:xfrm flipH="false" flipV="false" rot="0">
              <a:off x="19050" y="19050"/>
              <a:ext cx="10924794" cy="4226433"/>
            </a:xfrm>
            <a:custGeom>
              <a:avLst/>
              <a:gdLst/>
              <a:ahLst/>
              <a:cxnLst/>
              <a:rect r="r" b="b" t="t" l="l"/>
              <a:pathLst>
                <a:path h="4226433" w="10924794">
                  <a:moveTo>
                    <a:pt x="0" y="135509"/>
                  </a:moveTo>
                  <a:cubicBezTo>
                    <a:pt x="0" y="60706"/>
                    <a:pt x="60960" y="0"/>
                    <a:pt x="136271" y="0"/>
                  </a:cubicBezTo>
                  <a:lnTo>
                    <a:pt x="10788523" y="0"/>
                  </a:lnTo>
                  <a:cubicBezTo>
                    <a:pt x="10863834" y="0"/>
                    <a:pt x="10924794" y="60706"/>
                    <a:pt x="10924794" y="135509"/>
                  </a:cubicBezTo>
                  <a:lnTo>
                    <a:pt x="10924794" y="4090924"/>
                  </a:lnTo>
                  <a:cubicBezTo>
                    <a:pt x="10924794" y="4165727"/>
                    <a:pt x="10863834" y="4226433"/>
                    <a:pt x="10788523" y="4226433"/>
                  </a:cubicBezTo>
                  <a:lnTo>
                    <a:pt x="136271" y="4226433"/>
                  </a:lnTo>
                  <a:cubicBezTo>
                    <a:pt x="60960" y="4226433"/>
                    <a:pt x="0" y="4165727"/>
                    <a:pt x="0" y="4090924"/>
                  </a:cubicBezTo>
                  <a:close/>
                </a:path>
              </a:pathLst>
            </a:custGeom>
            <a:solidFill>
              <a:srgbClr val="FFFFFF"/>
            </a:solidFill>
          </p:spPr>
        </p:sp>
        <p:sp>
          <p:nvSpPr>
            <p:cNvPr name="Freeform 33" id="33"/>
            <p:cNvSpPr/>
            <p:nvPr/>
          </p:nvSpPr>
          <p:spPr>
            <a:xfrm flipH="false" flipV="false" rot="0">
              <a:off x="0" y="0"/>
              <a:ext cx="10962894" cy="4264533"/>
            </a:xfrm>
            <a:custGeom>
              <a:avLst/>
              <a:gdLst/>
              <a:ahLst/>
              <a:cxnLst/>
              <a:rect r="r" b="b" t="t" l="l"/>
              <a:pathLst>
                <a:path h="4264533" w="10962894">
                  <a:moveTo>
                    <a:pt x="0" y="154559"/>
                  </a:moveTo>
                  <a:cubicBezTo>
                    <a:pt x="0" y="69088"/>
                    <a:pt x="69596" y="0"/>
                    <a:pt x="155321" y="0"/>
                  </a:cubicBezTo>
                  <a:lnTo>
                    <a:pt x="10807573" y="0"/>
                  </a:lnTo>
                  <a:lnTo>
                    <a:pt x="10807573" y="19050"/>
                  </a:lnTo>
                  <a:lnTo>
                    <a:pt x="10807573" y="0"/>
                  </a:lnTo>
                  <a:cubicBezTo>
                    <a:pt x="10893298" y="0"/>
                    <a:pt x="10962894" y="69088"/>
                    <a:pt x="10962894" y="154559"/>
                  </a:cubicBezTo>
                  <a:lnTo>
                    <a:pt x="10943844" y="154559"/>
                  </a:lnTo>
                  <a:lnTo>
                    <a:pt x="10962894" y="154559"/>
                  </a:lnTo>
                  <a:lnTo>
                    <a:pt x="10962894" y="4109974"/>
                  </a:lnTo>
                  <a:lnTo>
                    <a:pt x="10943844" y="4109974"/>
                  </a:lnTo>
                  <a:lnTo>
                    <a:pt x="10962894" y="4109974"/>
                  </a:lnTo>
                  <a:cubicBezTo>
                    <a:pt x="10962894" y="4195445"/>
                    <a:pt x="10893298" y="4264533"/>
                    <a:pt x="10807573" y="4264533"/>
                  </a:cubicBezTo>
                  <a:lnTo>
                    <a:pt x="10807573" y="4245483"/>
                  </a:lnTo>
                  <a:lnTo>
                    <a:pt x="10807573" y="4264533"/>
                  </a:lnTo>
                  <a:lnTo>
                    <a:pt x="155321" y="4264533"/>
                  </a:lnTo>
                  <a:lnTo>
                    <a:pt x="155321" y="4245483"/>
                  </a:lnTo>
                  <a:lnTo>
                    <a:pt x="155321" y="4264533"/>
                  </a:lnTo>
                  <a:cubicBezTo>
                    <a:pt x="69596" y="4264660"/>
                    <a:pt x="0" y="4195445"/>
                    <a:pt x="0" y="4109974"/>
                  </a:cubicBezTo>
                  <a:lnTo>
                    <a:pt x="0" y="154559"/>
                  </a:lnTo>
                  <a:lnTo>
                    <a:pt x="19050" y="154559"/>
                  </a:lnTo>
                  <a:lnTo>
                    <a:pt x="0" y="154559"/>
                  </a:lnTo>
                  <a:moveTo>
                    <a:pt x="38100" y="154559"/>
                  </a:moveTo>
                  <a:lnTo>
                    <a:pt x="38100" y="4109974"/>
                  </a:lnTo>
                  <a:lnTo>
                    <a:pt x="19050" y="4109974"/>
                  </a:lnTo>
                  <a:lnTo>
                    <a:pt x="38100" y="4109974"/>
                  </a:lnTo>
                  <a:cubicBezTo>
                    <a:pt x="38100" y="4174236"/>
                    <a:pt x="90551" y="4226433"/>
                    <a:pt x="155321" y="4226433"/>
                  </a:cubicBezTo>
                  <a:lnTo>
                    <a:pt x="10807573" y="4226433"/>
                  </a:lnTo>
                  <a:cubicBezTo>
                    <a:pt x="10872470" y="4226433"/>
                    <a:pt x="10924794" y="4174236"/>
                    <a:pt x="10924794" y="4109974"/>
                  </a:cubicBezTo>
                  <a:lnTo>
                    <a:pt x="10924794" y="154559"/>
                  </a:lnTo>
                  <a:cubicBezTo>
                    <a:pt x="10924794" y="90297"/>
                    <a:pt x="10872343" y="38100"/>
                    <a:pt x="10807573" y="38100"/>
                  </a:cubicBezTo>
                  <a:lnTo>
                    <a:pt x="155321" y="38100"/>
                  </a:lnTo>
                  <a:lnTo>
                    <a:pt x="155321" y="19050"/>
                  </a:lnTo>
                  <a:lnTo>
                    <a:pt x="155321" y="38100"/>
                  </a:lnTo>
                  <a:cubicBezTo>
                    <a:pt x="90551" y="38100"/>
                    <a:pt x="38100" y="90297"/>
                    <a:pt x="38100" y="154559"/>
                  </a:cubicBezTo>
                  <a:close/>
                </a:path>
              </a:pathLst>
            </a:custGeom>
            <a:solidFill>
              <a:srgbClr val="C0C1D7"/>
            </a:solidFill>
          </p:spPr>
        </p:sp>
      </p:grpSp>
      <p:grpSp>
        <p:nvGrpSpPr>
          <p:cNvPr name="Group 34" id="34"/>
          <p:cNvGrpSpPr/>
          <p:nvPr/>
        </p:nvGrpSpPr>
        <p:grpSpPr>
          <a:xfrm rot="0">
            <a:off x="9275864" y="5860104"/>
            <a:ext cx="8136436" cy="726129"/>
            <a:chOff x="0" y="0"/>
            <a:chExt cx="10848581" cy="968172"/>
          </a:xfrm>
        </p:grpSpPr>
        <p:sp>
          <p:nvSpPr>
            <p:cNvPr name="Freeform 35" id="35"/>
            <p:cNvSpPr/>
            <p:nvPr/>
          </p:nvSpPr>
          <p:spPr>
            <a:xfrm flipH="false" flipV="false" rot="0">
              <a:off x="0" y="0"/>
              <a:ext cx="10848467" cy="968121"/>
            </a:xfrm>
            <a:custGeom>
              <a:avLst/>
              <a:gdLst/>
              <a:ahLst/>
              <a:cxnLst/>
              <a:rect r="r" b="b" t="t" l="l"/>
              <a:pathLst>
                <a:path h="968121" w="10848467">
                  <a:moveTo>
                    <a:pt x="0" y="89789"/>
                  </a:moveTo>
                  <a:cubicBezTo>
                    <a:pt x="0" y="40259"/>
                    <a:pt x="40259" y="0"/>
                    <a:pt x="89789" y="0"/>
                  </a:cubicBezTo>
                  <a:lnTo>
                    <a:pt x="10758678" y="0"/>
                  </a:lnTo>
                  <a:cubicBezTo>
                    <a:pt x="10808335" y="0"/>
                    <a:pt x="10848467" y="40259"/>
                    <a:pt x="10848467" y="89789"/>
                  </a:cubicBezTo>
                  <a:lnTo>
                    <a:pt x="10848467" y="878332"/>
                  </a:lnTo>
                  <a:cubicBezTo>
                    <a:pt x="10848467" y="927989"/>
                    <a:pt x="10808208" y="968121"/>
                    <a:pt x="10758678" y="968121"/>
                  </a:cubicBezTo>
                  <a:lnTo>
                    <a:pt x="89789" y="968121"/>
                  </a:lnTo>
                  <a:cubicBezTo>
                    <a:pt x="40259" y="968121"/>
                    <a:pt x="0" y="927989"/>
                    <a:pt x="0" y="878332"/>
                  </a:cubicBezTo>
                  <a:close/>
                </a:path>
              </a:pathLst>
            </a:custGeom>
            <a:solidFill>
              <a:srgbClr val="DADBF1"/>
            </a:solidFill>
          </p:spPr>
        </p:sp>
      </p:grpSp>
      <p:sp>
        <p:nvSpPr>
          <p:cNvPr name="Freeform 36" id="36" descr="preencoded.png"/>
          <p:cNvSpPr/>
          <p:nvPr/>
        </p:nvSpPr>
        <p:spPr>
          <a:xfrm flipH="false" flipV="false" rot="0">
            <a:off x="13162512" y="6036916"/>
            <a:ext cx="362988" cy="362988"/>
          </a:xfrm>
          <a:custGeom>
            <a:avLst/>
            <a:gdLst/>
            <a:ahLst/>
            <a:cxnLst/>
            <a:rect r="r" b="b" t="t" l="l"/>
            <a:pathLst>
              <a:path h="362988" w="362988">
                <a:moveTo>
                  <a:pt x="0" y="0"/>
                </a:moveTo>
                <a:lnTo>
                  <a:pt x="362988" y="0"/>
                </a:lnTo>
                <a:lnTo>
                  <a:pt x="362988" y="362989"/>
                </a:lnTo>
                <a:lnTo>
                  <a:pt x="0" y="362989"/>
                </a:lnTo>
                <a:lnTo>
                  <a:pt x="0" y="0"/>
                </a:lnTo>
                <a:close/>
              </a:path>
            </a:pathLst>
          </a:custGeom>
          <a:blipFill>
            <a:blip r:embed="rId9">
              <a:extLst>
                <a:ext uri="{96DAC541-7B7A-43D3-8B79-37D633B846F1}">
                  <asvg:svgBlip xmlns:asvg="http://schemas.microsoft.com/office/drawing/2016/SVG/main" r:embed="rId10"/>
                </a:ext>
              </a:extLst>
            </a:blip>
            <a:stretch>
              <a:fillRect l="0" t="-21795" r="0" b="-21795"/>
            </a:stretch>
          </a:blipFill>
        </p:spPr>
      </p:sp>
      <p:sp>
        <p:nvSpPr>
          <p:cNvPr name="TextBox 37" id="37"/>
          <p:cNvSpPr txBox="true"/>
          <p:nvPr/>
        </p:nvSpPr>
        <p:spPr>
          <a:xfrm rot="0">
            <a:off x="9517856" y="6783286"/>
            <a:ext cx="3228527" cy="387696"/>
          </a:xfrm>
          <a:prstGeom prst="rect">
            <a:avLst/>
          </a:prstGeom>
        </p:spPr>
        <p:txBody>
          <a:bodyPr anchor="t" rtlCol="false" tIns="0" lIns="0" bIns="0" rIns="0">
            <a:spAutoFit/>
          </a:bodyPr>
          <a:lstStyle/>
          <a:p>
            <a:pPr algn="l">
              <a:lnSpc>
                <a:spcPts val="2937"/>
              </a:lnSpc>
            </a:pPr>
            <a:r>
              <a:rPr lang="en-US" sz="2375" b="true">
                <a:solidFill>
                  <a:srgbClr val="272525"/>
                </a:solidFill>
                <a:latin typeface="Inter Bold"/>
                <a:ea typeface="Inter Bold"/>
                <a:cs typeface="Inter Bold"/>
                <a:sym typeface="Inter Bold"/>
              </a:rPr>
              <a:t>Shared Word Patterns</a:t>
            </a:r>
          </a:p>
        </p:txBody>
      </p:sp>
      <p:sp>
        <p:nvSpPr>
          <p:cNvPr name="TextBox 38" id="38"/>
          <p:cNvSpPr txBox="true"/>
          <p:nvPr/>
        </p:nvSpPr>
        <p:spPr>
          <a:xfrm rot="0">
            <a:off x="9517856" y="7237809"/>
            <a:ext cx="7652442" cy="1493044"/>
          </a:xfrm>
          <a:prstGeom prst="rect">
            <a:avLst/>
          </a:prstGeom>
        </p:spPr>
        <p:txBody>
          <a:bodyPr anchor="t" rtlCol="false" tIns="0" lIns="0" bIns="0" rIns="0">
            <a:spAutoFit/>
          </a:bodyPr>
          <a:lstStyle/>
          <a:p>
            <a:pPr algn="l">
              <a:lnSpc>
                <a:spcPts val="2812"/>
              </a:lnSpc>
            </a:pPr>
            <a:r>
              <a:rPr lang="en-US" sz="1874">
                <a:solidFill>
                  <a:srgbClr val="272525"/>
                </a:solidFill>
                <a:latin typeface="Inter"/>
                <a:ea typeface="Inter"/>
                <a:cs typeface="Inter"/>
                <a:sym typeface="Inter"/>
              </a:rPr>
              <a:t>Certain words share identical structural patterns, which can cause significant confusion for the algorithm. This similarity makes it difficult for the AI to differentiate between words during the matching process.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2045941"/>
            <a:ext cx="7088238" cy="914552"/>
          </a:xfrm>
          <a:prstGeom prst="rect">
            <a:avLst/>
          </a:prstGeom>
        </p:spPr>
        <p:txBody>
          <a:bodyPr anchor="t" rtlCol="false" tIns="0" lIns="0" bIns="0" rIns="0">
            <a:spAutoFit/>
          </a:bodyPr>
          <a:lstStyle/>
          <a:p>
            <a:pPr algn="l">
              <a:lnSpc>
                <a:spcPts val="6937"/>
              </a:lnSpc>
            </a:pPr>
            <a:r>
              <a:rPr lang="en-US" sz="5562" b="true">
                <a:solidFill>
                  <a:srgbClr val="000000"/>
                </a:solidFill>
                <a:latin typeface="Inter Bold"/>
                <a:ea typeface="Inter Bold"/>
                <a:cs typeface="Inter Bold"/>
                <a:sym typeface="Inter Bold"/>
              </a:rPr>
              <a:t>Technology Stack</a:t>
            </a:r>
          </a:p>
        </p:txBody>
      </p:sp>
      <p:sp>
        <p:nvSpPr>
          <p:cNvPr name="Freeform 7" id="7" descr="preencoded.png"/>
          <p:cNvSpPr/>
          <p:nvPr/>
        </p:nvSpPr>
        <p:spPr>
          <a:xfrm flipH="false" flipV="false" rot="0">
            <a:off x="992238" y="3527527"/>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3">
              <a:extLst>
                <a:ext uri="{96DAC541-7B7A-43D3-8B79-37D633B846F1}">
                  <asvg:svgBlip xmlns:asvg="http://schemas.microsoft.com/office/drawing/2016/SVG/main" r:embed="rId4"/>
                </a:ext>
              </a:extLst>
            </a:blip>
            <a:stretch>
              <a:fillRect l="0" t="-7332" r="0" b="-7334"/>
            </a:stretch>
          </a:blipFill>
        </p:spPr>
      </p:sp>
      <p:sp>
        <p:nvSpPr>
          <p:cNvPr name="TextBox 8" id="8"/>
          <p:cNvSpPr txBox="true"/>
          <p:nvPr/>
        </p:nvSpPr>
        <p:spPr>
          <a:xfrm rot="0">
            <a:off x="2055314" y="3508477"/>
            <a:ext cx="3544043" cy="461962"/>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MongoDB</a:t>
            </a:r>
          </a:p>
        </p:txBody>
      </p:sp>
      <p:sp>
        <p:nvSpPr>
          <p:cNvPr name="TextBox 9" id="9"/>
          <p:cNvSpPr txBox="true"/>
          <p:nvPr/>
        </p:nvSpPr>
        <p:spPr>
          <a:xfrm rot="0">
            <a:off x="2055314" y="4054821"/>
            <a:ext cx="6911426" cy="992981"/>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Database for storing game data, user profiles, and game history</a:t>
            </a:r>
          </a:p>
        </p:txBody>
      </p:sp>
      <p:sp>
        <p:nvSpPr>
          <p:cNvPr name="TextBox 10" id="10"/>
          <p:cNvSpPr txBox="true"/>
          <p:nvPr/>
        </p:nvSpPr>
        <p:spPr>
          <a:xfrm rot="0">
            <a:off x="2055314" y="5132184"/>
            <a:ext cx="6911426" cy="992981"/>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Stores game sessions, move history, and player statistics for all three game modes.</a:t>
            </a:r>
          </a:p>
        </p:txBody>
      </p:sp>
      <p:sp>
        <p:nvSpPr>
          <p:cNvPr name="Freeform 11" id="11" descr="preencoded.png"/>
          <p:cNvSpPr/>
          <p:nvPr/>
        </p:nvSpPr>
        <p:spPr>
          <a:xfrm flipH="false" flipV="false" rot="0">
            <a:off x="9321108" y="3527527"/>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5">
              <a:extLst>
                <a:ext uri="{96DAC541-7B7A-43D3-8B79-37D633B846F1}">
                  <asvg:svgBlip xmlns:asvg="http://schemas.microsoft.com/office/drawing/2016/SVG/main" r:embed="rId6"/>
                </a:ext>
              </a:extLst>
            </a:blip>
            <a:stretch>
              <a:fillRect l="-5999" t="0" r="-6000" b="0"/>
            </a:stretch>
          </a:blipFill>
        </p:spPr>
      </p:sp>
      <p:sp>
        <p:nvSpPr>
          <p:cNvPr name="TextBox 12" id="12"/>
          <p:cNvSpPr txBox="true"/>
          <p:nvPr/>
        </p:nvSpPr>
        <p:spPr>
          <a:xfrm rot="0">
            <a:off x="10384184" y="3508477"/>
            <a:ext cx="3544043" cy="461962"/>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Express.js</a:t>
            </a:r>
          </a:p>
        </p:txBody>
      </p:sp>
      <p:sp>
        <p:nvSpPr>
          <p:cNvPr name="TextBox 13" id="13"/>
          <p:cNvSpPr txBox="true"/>
          <p:nvPr/>
        </p:nvSpPr>
        <p:spPr>
          <a:xfrm rot="0">
            <a:off x="10384184" y="4054821"/>
            <a:ext cx="6911578" cy="992981"/>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Backend framework for building RESTful APIs and handling game logic</a:t>
            </a:r>
          </a:p>
        </p:txBody>
      </p:sp>
      <p:sp>
        <p:nvSpPr>
          <p:cNvPr name="Freeform 14" id="14" descr="preencoded.png"/>
          <p:cNvSpPr/>
          <p:nvPr/>
        </p:nvSpPr>
        <p:spPr>
          <a:xfrm flipH="false" flipV="false" rot="0">
            <a:off x="992238" y="6692208"/>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2055314" y="6673158"/>
            <a:ext cx="3544043" cy="461962"/>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React</a:t>
            </a:r>
          </a:p>
        </p:txBody>
      </p:sp>
      <p:sp>
        <p:nvSpPr>
          <p:cNvPr name="TextBox 16" id="16"/>
          <p:cNvSpPr txBox="true"/>
          <p:nvPr/>
        </p:nvSpPr>
        <p:spPr>
          <a:xfrm rot="0">
            <a:off x="2055314" y="7219502"/>
            <a:ext cx="6911426" cy="992981"/>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Frontend library for building interactive user interface and real-time game updates</a:t>
            </a:r>
          </a:p>
        </p:txBody>
      </p:sp>
      <p:sp>
        <p:nvSpPr>
          <p:cNvPr name="Freeform 17" id="17" descr="preencoded.png"/>
          <p:cNvSpPr/>
          <p:nvPr/>
        </p:nvSpPr>
        <p:spPr>
          <a:xfrm flipH="false" flipV="false" rot="0">
            <a:off x="9321108" y="6692208"/>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9">
              <a:extLst>
                <a:ext uri="{96DAC541-7B7A-43D3-8B79-37D633B846F1}">
                  <asvg:svgBlip xmlns:asvg="http://schemas.microsoft.com/office/drawing/2016/SVG/main" r:embed="rId10"/>
                </a:ext>
              </a:extLst>
            </a:blip>
            <a:stretch>
              <a:fillRect l="0" t="-6666" r="0" b="-6667"/>
            </a:stretch>
          </a:blipFill>
        </p:spPr>
      </p:sp>
      <p:sp>
        <p:nvSpPr>
          <p:cNvPr name="TextBox 18" id="18"/>
          <p:cNvSpPr txBox="true"/>
          <p:nvPr/>
        </p:nvSpPr>
        <p:spPr>
          <a:xfrm rot="0">
            <a:off x="10384184" y="6673158"/>
            <a:ext cx="3544043" cy="461962"/>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Node.js</a:t>
            </a:r>
          </a:p>
        </p:txBody>
      </p:sp>
      <p:sp>
        <p:nvSpPr>
          <p:cNvPr name="TextBox 19" id="19"/>
          <p:cNvSpPr txBox="true"/>
          <p:nvPr/>
        </p:nvSpPr>
        <p:spPr>
          <a:xfrm rot="0">
            <a:off x="10384184" y="7219502"/>
            <a:ext cx="6911578" cy="992981"/>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JavaScript runtime for server-side execution and managing concurrent game sessions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1700365"/>
            <a:ext cx="7896377" cy="914552"/>
          </a:xfrm>
          <a:prstGeom prst="rect">
            <a:avLst/>
          </a:prstGeom>
        </p:spPr>
        <p:txBody>
          <a:bodyPr anchor="t" rtlCol="false" tIns="0" lIns="0" bIns="0" rIns="0">
            <a:spAutoFit/>
          </a:bodyPr>
          <a:lstStyle/>
          <a:p>
            <a:pPr algn="l">
              <a:lnSpc>
                <a:spcPts val="6937"/>
              </a:lnSpc>
            </a:pPr>
            <a:r>
              <a:rPr lang="en-US" sz="5562" b="true">
                <a:solidFill>
                  <a:srgbClr val="000000"/>
                </a:solidFill>
                <a:latin typeface="Inter Bold"/>
                <a:ea typeface="Inter Bold"/>
                <a:cs typeface="Inter Bold"/>
                <a:sym typeface="Inter Bold"/>
              </a:rPr>
              <a:t>Game Interface Design</a:t>
            </a:r>
          </a:p>
        </p:txBody>
      </p:sp>
      <p:grpSp>
        <p:nvGrpSpPr>
          <p:cNvPr name="Group 11" id="11"/>
          <p:cNvGrpSpPr/>
          <p:nvPr/>
        </p:nvGrpSpPr>
        <p:grpSpPr>
          <a:xfrm rot="0">
            <a:off x="973188" y="3021063"/>
            <a:ext cx="4619034" cy="3108874"/>
            <a:chOff x="0" y="0"/>
            <a:chExt cx="6158713" cy="4145166"/>
          </a:xfrm>
        </p:grpSpPr>
        <p:sp>
          <p:nvSpPr>
            <p:cNvPr name="Freeform 12" id="12"/>
            <p:cNvSpPr/>
            <p:nvPr/>
          </p:nvSpPr>
          <p:spPr>
            <a:xfrm flipH="false" flipV="false" rot="0">
              <a:off x="25400" y="25400"/>
              <a:ext cx="6107811" cy="4094353"/>
            </a:xfrm>
            <a:custGeom>
              <a:avLst/>
              <a:gdLst/>
              <a:ahLst/>
              <a:cxnLst/>
              <a:rect r="r" b="b" t="t" l="l"/>
              <a:pathLst>
                <a:path h="4094353" w="6107811">
                  <a:moveTo>
                    <a:pt x="0" y="158750"/>
                  </a:moveTo>
                  <a:cubicBezTo>
                    <a:pt x="0" y="71120"/>
                    <a:pt x="71374" y="0"/>
                    <a:pt x="159385" y="0"/>
                  </a:cubicBezTo>
                  <a:lnTo>
                    <a:pt x="5948426" y="0"/>
                  </a:lnTo>
                  <a:cubicBezTo>
                    <a:pt x="6036437" y="0"/>
                    <a:pt x="6107811" y="71120"/>
                    <a:pt x="6107811" y="158750"/>
                  </a:cubicBezTo>
                  <a:lnTo>
                    <a:pt x="6107811" y="3935603"/>
                  </a:lnTo>
                  <a:cubicBezTo>
                    <a:pt x="6107811" y="4023233"/>
                    <a:pt x="6036437" y="4094353"/>
                    <a:pt x="5948426" y="4094353"/>
                  </a:cubicBezTo>
                  <a:lnTo>
                    <a:pt x="159385" y="4094353"/>
                  </a:lnTo>
                  <a:cubicBezTo>
                    <a:pt x="71374" y="4094353"/>
                    <a:pt x="0" y="4023233"/>
                    <a:pt x="0" y="3935603"/>
                  </a:cubicBezTo>
                  <a:close/>
                </a:path>
              </a:pathLst>
            </a:custGeom>
            <a:solidFill>
              <a:srgbClr val="FFFFFF"/>
            </a:solidFill>
          </p:spPr>
        </p:sp>
        <p:sp>
          <p:nvSpPr>
            <p:cNvPr name="Freeform 13" id="13"/>
            <p:cNvSpPr/>
            <p:nvPr/>
          </p:nvSpPr>
          <p:spPr>
            <a:xfrm flipH="false" flipV="false" rot="0">
              <a:off x="0" y="0"/>
              <a:ext cx="6158611" cy="4145153"/>
            </a:xfrm>
            <a:custGeom>
              <a:avLst/>
              <a:gdLst/>
              <a:ahLst/>
              <a:cxnLst/>
              <a:rect r="r" b="b" t="t" l="l"/>
              <a:pathLst>
                <a:path h="4145153" w="6158611">
                  <a:moveTo>
                    <a:pt x="0" y="184150"/>
                  </a:moveTo>
                  <a:cubicBezTo>
                    <a:pt x="0" y="82423"/>
                    <a:pt x="82804" y="0"/>
                    <a:pt x="184785" y="0"/>
                  </a:cubicBezTo>
                  <a:lnTo>
                    <a:pt x="5973826" y="0"/>
                  </a:lnTo>
                  <a:lnTo>
                    <a:pt x="5973826" y="25400"/>
                  </a:lnTo>
                  <a:lnTo>
                    <a:pt x="5973826" y="0"/>
                  </a:lnTo>
                  <a:cubicBezTo>
                    <a:pt x="6075807" y="0"/>
                    <a:pt x="6158611" y="82423"/>
                    <a:pt x="6158611" y="184150"/>
                  </a:cubicBezTo>
                  <a:lnTo>
                    <a:pt x="6133211" y="184150"/>
                  </a:lnTo>
                  <a:lnTo>
                    <a:pt x="6158611" y="184150"/>
                  </a:lnTo>
                  <a:lnTo>
                    <a:pt x="6158611" y="3961003"/>
                  </a:lnTo>
                  <a:lnTo>
                    <a:pt x="6133211" y="3961003"/>
                  </a:lnTo>
                  <a:lnTo>
                    <a:pt x="6158611" y="3961003"/>
                  </a:lnTo>
                  <a:cubicBezTo>
                    <a:pt x="6158611" y="4062857"/>
                    <a:pt x="6075807" y="4145153"/>
                    <a:pt x="5973826" y="4145153"/>
                  </a:cubicBezTo>
                  <a:lnTo>
                    <a:pt x="5973826" y="4119753"/>
                  </a:lnTo>
                  <a:lnTo>
                    <a:pt x="5973826" y="4145153"/>
                  </a:lnTo>
                  <a:lnTo>
                    <a:pt x="184785" y="4145153"/>
                  </a:lnTo>
                  <a:lnTo>
                    <a:pt x="184785" y="4119753"/>
                  </a:lnTo>
                  <a:lnTo>
                    <a:pt x="184785" y="4145153"/>
                  </a:lnTo>
                  <a:cubicBezTo>
                    <a:pt x="82804" y="4145153"/>
                    <a:pt x="0" y="4062857"/>
                    <a:pt x="0" y="3961003"/>
                  </a:cubicBezTo>
                  <a:lnTo>
                    <a:pt x="0" y="184150"/>
                  </a:lnTo>
                  <a:lnTo>
                    <a:pt x="25400" y="184150"/>
                  </a:lnTo>
                  <a:lnTo>
                    <a:pt x="0" y="184150"/>
                  </a:lnTo>
                  <a:moveTo>
                    <a:pt x="50800" y="184150"/>
                  </a:moveTo>
                  <a:lnTo>
                    <a:pt x="50800" y="3961003"/>
                  </a:lnTo>
                  <a:lnTo>
                    <a:pt x="25400" y="3961003"/>
                  </a:lnTo>
                  <a:lnTo>
                    <a:pt x="50800" y="3961003"/>
                  </a:lnTo>
                  <a:cubicBezTo>
                    <a:pt x="50800" y="4034536"/>
                    <a:pt x="110744" y="4094353"/>
                    <a:pt x="184785" y="4094353"/>
                  </a:cubicBezTo>
                  <a:lnTo>
                    <a:pt x="5973826" y="4094353"/>
                  </a:lnTo>
                  <a:cubicBezTo>
                    <a:pt x="6047994" y="4094353"/>
                    <a:pt x="6107811" y="4034536"/>
                    <a:pt x="6107811" y="3961003"/>
                  </a:cubicBezTo>
                  <a:lnTo>
                    <a:pt x="6107811" y="184150"/>
                  </a:lnTo>
                  <a:cubicBezTo>
                    <a:pt x="6107811" y="110617"/>
                    <a:pt x="6047867" y="50800"/>
                    <a:pt x="5973826" y="50800"/>
                  </a:cubicBezTo>
                  <a:lnTo>
                    <a:pt x="184785" y="50800"/>
                  </a:lnTo>
                  <a:lnTo>
                    <a:pt x="184785" y="25400"/>
                  </a:lnTo>
                  <a:lnTo>
                    <a:pt x="184785" y="50800"/>
                  </a:lnTo>
                  <a:cubicBezTo>
                    <a:pt x="110744" y="50800"/>
                    <a:pt x="50800" y="110617"/>
                    <a:pt x="50800" y="184150"/>
                  </a:cubicBezTo>
                  <a:close/>
                </a:path>
              </a:pathLst>
            </a:custGeom>
            <a:solidFill>
              <a:srgbClr val="C0C1D7"/>
            </a:solidFill>
          </p:spPr>
        </p:sp>
      </p:grpSp>
      <p:sp>
        <p:nvSpPr>
          <p:cNvPr name="TextBox 14" id="14"/>
          <p:cNvSpPr txBox="true"/>
          <p:nvPr/>
        </p:nvSpPr>
        <p:spPr>
          <a:xfrm rot="0">
            <a:off x="1313859" y="3342684"/>
            <a:ext cx="3544043" cy="461962"/>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Word Display</a:t>
            </a:r>
          </a:p>
        </p:txBody>
      </p:sp>
      <p:sp>
        <p:nvSpPr>
          <p:cNvPr name="TextBox 15" id="15"/>
          <p:cNvSpPr txBox="true"/>
          <p:nvPr/>
        </p:nvSpPr>
        <p:spPr>
          <a:xfrm rot="0">
            <a:off x="1313859" y="3889029"/>
            <a:ext cx="3937692" cy="1446609"/>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Hidden word shown as underscores representing each letter position</a:t>
            </a:r>
          </a:p>
        </p:txBody>
      </p:sp>
      <p:grpSp>
        <p:nvGrpSpPr>
          <p:cNvPr name="Group 16" id="16"/>
          <p:cNvGrpSpPr/>
          <p:nvPr/>
        </p:nvGrpSpPr>
        <p:grpSpPr>
          <a:xfrm rot="0">
            <a:off x="5837634" y="3021063"/>
            <a:ext cx="4619177" cy="3108874"/>
            <a:chOff x="0" y="0"/>
            <a:chExt cx="6158903" cy="4145166"/>
          </a:xfrm>
        </p:grpSpPr>
        <p:sp>
          <p:nvSpPr>
            <p:cNvPr name="Freeform 17" id="17"/>
            <p:cNvSpPr/>
            <p:nvPr/>
          </p:nvSpPr>
          <p:spPr>
            <a:xfrm flipH="false" flipV="false" rot="0">
              <a:off x="25400" y="25400"/>
              <a:ext cx="6108065" cy="4094353"/>
            </a:xfrm>
            <a:custGeom>
              <a:avLst/>
              <a:gdLst/>
              <a:ahLst/>
              <a:cxnLst/>
              <a:rect r="r" b="b" t="t" l="l"/>
              <a:pathLst>
                <a:path h="4094353" w="6108065">
                  <a:moveTo>
                    <a:pt x="0" y="158750"/>
                  </a:moveTo>
                  <a:cubicBezTo>
                    <a:pt x="0" y="71120"/>
                    <a:pt x="71374" y="0"/>
                    <a:pt x="159385" y="0"/>
                  </a:cubicBezTo>
                  <a:lnTo>
                    <a:pt x="5948680" y="0"/>
                  </a:lnTo>
                  <a:cubicBezTo>
                    <a:pt x="6036691" y="0"/>
                    <a:pt x="6108065" y="71120"/>
                    <a:pt x="6108065" y="158750"/>
                  </a:cubicBezTo>
                  <a:lnTo>
                    <a:pt x="6108065" y="3935603"/>
                  </a:lnTo>
                  <a:cubicBezTo>
                    <a:pt x="6108065" y="4023233"/>
                    <a:pt x="6036691" y="4094353"/>
                    <a:pt x="5948680" y="4094353"/>
                  </a:cubicBezTo>
                  <a:lnTo>
                    <a:pt x="159385" y="4094353"/>
                  </a:lnTo>
                  <a:cubicBezTo>
                    <a:pt x="71374" y="4094353"/>
                    <a:pt x="0" y="4023233"/>
                    <a:pt x="0" y="3935603"/>
                  </a:cubicBezTo>
                  <a:close/>
                </a:path>
              </a:pathLst>
            </a:custGeom>
            <a:solidFill>
              <a:srgbClr val="FFFFFF"/>
            </a:solidFill>
          </p:spPr>
        </p:sp>
        <p:sp>
          <p:nvSpPr>
            <p:cNvPr name="Freeform 18" id="18"/>
            <p:cNvSpPr/>
            <p:nvPr/>
          </p:nvSpPr>
          <p:spPr>
            <a:xfrm flipH="false" flipV="false" rot="0">
              <a:off x="0" y="0"/>
              <a:ext cx="6158865" cy="4145153"/>
            </a:xfrm>
            <a:custGeom>
              <a:avLst/>
              <a:gdLst/>
              <a:ahLst/>
              <a:cxnLst/>
              <a:rect r="r" b="b" t="t" l="l"/>
              <a:pathLst>
                <a:path h="4145153" w="6158865">
                  <a:moveTo>
                    <a:pt x="0" y="184150"/>
                  </a:moveTo>
                  <a:cubicBezTo>
                    <a:pt x="0" y="82423"/>
                    <a:pt x="82804" y="0"/>
                    <a:pt x="184785" y="0"/>
                  </a:cubicBezTo>
                  <a:lnTo>
                    <a:pt x="5974080" y="0"/>
                  </a:lnTo>
                  <a:lnTo>
                    <a:pt x="5974080" y="25400"/>
                  </a:lnTo>
                  <a:lnTo>
                    <a:pt x="5974080" y="0"/>
                  </a:lnTo>
                  <a:cubicBezTo>
                    <a:pt x="6076061" y="0"/>
                    <a:pt x="6158865" y="82423"/>
                    <a:pt x="6158865" y="184150"/>
                  </a:cubicBezTo>
                  <a:lnTo>
                    <a:pt x="6133465" y="184150"/>
                  </a:lnTo>
                  <a:lnTo>
                    <a:pt x="6158865" y="184150"/>
                  </a:lnTo>
                  <a:lnTo>
                    <a:pt x="6158865" y="3961003"/>
                  </a:lnTo>
                  <a:lnTo>
                    <a:pt x="6133465" y="3961003"/>
                  </a:lnTo>
                  <a:lnTo>
                    <a:pt x="6158865" y="3961003"/>
                  </a:lnTo>
                  <a:cubicBezTo>
                    <a:pt x="6158865" y="4062857"/>
                    <a:pt x="6076061" y="4145153"/>
                    <a:pt x="5974080" y="4145153"/>
                  </a:cubicBezTo>
                  <a:lnTo>
                    <a:pt x="5974080" y="4119753"/>
                  </a:lnTo>
                  <a:lnTo>
                    <a:pt x="5974080" y="4145153"/>
                  </a:lnTo>
                  <a:lnTo>
                    <a:pt x="184785" y="4145153"/>
                  </a:lnTo>
                  <a:lnTo>
                    <a:pt x="184785" y="4119753"/>
                  </a:lnTo>
                  <a:lnTo>
                    <a:pt x="184785" y="4145153"/>
                  </a:lnTo>
                  <a:cubicBezTo>
                    <a:pt x="82804" y="4145153"/>
                    <a:pt x="0" y="4062857"/>
                    <a:pt x="0" y="3961003"/>
                  </a:cubicBezTo>
                  <a:lnTo>
                    <a:pt x="0" y="184150"/>
                  </a:lnTo>
                  <a:lnTo>
                    <a:pt x="25400" y="184150"/>
                  </a:lnTo>
                  <a:lnTo>
                    <a:pt x="0" y="184150"/>
                  </a:lnTo>
                  <a:moveTo>
                    <a:pt x="50800" y="184150"/>
                  </a:moveTo>
                  <a:lnTo>
                    <a:pt x="50800" y="3961003"/>
                  </a:lnTo>
                  <a:lnTo>
                    <a:pt x="25400" y="3961003"/>
                  </a:lnTo>
                  <a:lnTo>
                    <a:pt x="50800" y="3961003"/>
                  </a:lnTo>
                  <a:cubicBezTo>
                    <a:pt x="50800" y="4034536"/>
                    <a:pt x="110744" y="4094353"/>
                    <a:pt x="184785" y="4094353"/>
                  </a:cubicBezTo>
                  <a:lnTo>
                    <a:pt x="5974080" y="4094353"/>
                  </a:lnTo>
                  <a:cubicBezTo>
                    <a:pt x="6048248" y="4094353"/>
                    <a:pt x="6108065" y="4034536"/>
                    <a:pt x="6108065" y="3961003"/>
                  </a:cubicBezTo>
                  <a:lnTo>
                    <a:pt x="6108065" y="184150"/>
                  </a:lnTo>
                  <a:cubicBezTo>
                    <a:pt x="6108065" y="110617"/>
                    <a:pt x="6048121" y="50800"/>
                    <a:pt x="5974080" y="50800"/>
                  </a:cubicBezTo>
                  <a:lnTo>
                    <a:pt x="184785" y="50800"/>
                  </a:lnTo>
                  <a:lnTo>
                    <a:pt x="184785" y="25400"/>
                  </a:lnTo>
                  <a:lnTo>
                    <a:pt x="184785" y="50800"/>
                  </a:lnTo>
                  <a:cubicBezTo>
                    <a:pt x="110744" y="50800"/>
                    <a:pt x="50800" y="110617"/>
                    <a:pt x="50800" y="184150"/>
                  </a:cubicBezTo>
                  <a:close/>
                </a:path>
              </a:pathLst>
            </a:custGeom>
            <a:solidFill>
              <a:srgbClr val="C0C1D7"/>
            </a:solidFill>
          </p:spPr>
        </p:sp>
      </p:grpSp>
      <p:sp>
        <p:nvSpPr>
          <p:cNvPr name="TextBox 19" id="19"/>
          <p:cNvSpPr txBox="true"/>
          <p:nvPr/>
        </p:nvSpPr>
        <p:spPr>
          <a:xfrm rot="0">
            <a:off x="6178306" y="3342684"/>
            <a:ext cx="3544043" cy="461962"/>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Letter Tracking</a:t>
            </a:r>
          </a:p>
        </p:txBody>
      </p:sp>
      <p:sp>
        <p:nvSpPr>
          <p:cNvPr name="TextBox 20" id="20"/>
          <p:cNvSpPr txBox="true"/>
          <p:nvPr/>
        </p:nvSpPr>
        <p:spPr>
          <a:xfrm rot="0">
            <a:off x="6178306" y="3889029"/>
            <a:ext cx="3937845" cy="1900237"/>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Displayed list of attempted letters with visual indicators for correct and incorrect guesses</a:t>
            </a:r>
          </a:p>
        </p:txBody>
      </p:sp>
      <p:grpSp>
        <p:nvGrpSpPr>
          <p:cNvPr name="Group 21" id="21"/>
          <p:cNvGrpSpPr/>
          <p:nvPr/>
        </p:nvGrpSpPr>
        <p:grpSpPr>
          <a:xfrm rot="0">
            <a:off x="973188" y="6375349"/>
            <a:ext cx="9483623" cy="2201618"/>
            <a:chOff x="0" y="0"/>
            <a:chExt cx="12644831" cy="2935491"/>
          </a:xfrm>
        </p:grpSpPr>
        <p:sp>
          <p:nvSpPr>
            <p:cNvPr name="Freeform 22" id="22"/>
            <p:cNvSpPr/>
            <p:nvPr/>
          </p:nvSpPr>
          <p:spPr>
            <a:xfrm flipH="false" flipV="false" rot="0">
              <a:off x="25400" y="25400"/>
              <a:ext cx="12594082" cy="2884678"/>
            </a:xfrm>
            <a:custGeom>
              <a:avLst/>
              <a:gdLst/>
              <a:ahLst/>
              <a:cxnLst/>
              <a:rect r="r" b="b" t="t" l="l"/>
              <a:pathLst>
                <a:path h="2884678" w="12594082">
                  <a:moveTo>
                    <a:pt x="0" y="158750"/>
                  </a:moveTo>
                  <a:cubicBezTo>
                    <a:pt x="0" y="71120"/>
                    <a:pt x="72009" y="0"/>
                    <a:pt x="160909" y="0"/>
                  </a:cubicBezTo>
                  <a:lnTo>
                    <a:pt x="12433173" y="0"/>
                  </a:lnTo>
                  <a:cubicBezTo>
                    <a:pt x="12522073" y="0"/>
                    <a:pt x="12594082" y="71120"/>
                    <a:pt x="12594082" y="158750"/>
                  </a:cubicBezTo>
                  <a:lnTo>
                    <a:pt x="12594082" y="2725928"/>
                  </a:lnTo>
                  <a:cubicBezTo>
                    <a:pt x="12594082" y="2813558"/>
                    <a:pt x="12522073" y="2884678"/>
                    <a:pt x="12433173" y="2884678"/>
                  </a:cubicBezTo>
                  <a:lnTo>
                    <a:pt x="160909" y="2884678"/>
                  </a:lnTo>
                  <a:cubicBezTo>
                    <a:pt x="72009" y="2884678"/>
                    <a:pt x="0" y="2813558"/>
                    <a:pt x="0" y="2725928"/>
                  </a:cubicBezTo>
                  <a:close/>
                </a:path>
              </a:pathLst>
            </a:custGeom>
            <a:solidFill>
              <a:srgbClr val="FFFFFF"/>
            </a:solidFill>
          </p:spPr>
        </p:sp>
        <p:sp>
          <p:nvSpPr>
            <p:cNvPr name="Freeform 23" id="23"/>
            <p:cNvSpPr/>
            <p:nvPr/>
          </p:nvSpPr>
          <p:spPr>
            <a:xfrm flipH="false" flipV="false" rot="0">
              <a:off x="0" y="0"/>
              <a:ext cx="12644882" cy="2935478"/>
            </a:xfrm>
            <a:custGeom>
              <a:avLst/>
              <a:gdLst/>
              <a:ahLst/>
              <a:cxnLst/>
              <a:rect r="r" b="b" t="t" l="l"/>
              <a:pathLst>
                <a:path h="2935478" w="12644882">
                  <a:moveTo>
                    <a:pt x="0" y="184150"/>
                  </a:moveTo>
                  <a:cubicBezTo>
                    <a:pt x="0" y="82169"/>
                    <a:pt x="83693" y="0"/>
                    <a:pt x="186309" y="0"/>
                  </a:cubicBezTo>
                  <a:lnTo>
                    <a:pt x="12458573" y="0"/>
                  </a:lnTo>
                  <a:lnTo>
                    <a:pt x="12458573" y="25400"/>
                  </a:lnTo>
                  <a:lnTo>
                    <a:pt x="12458573" y="0"/>
                  </a:lnTo>
                  <a:cubicBezTo>
                    <a:pt x="12561189" y="0"/>
                    <a:pt x="12644882" y="82169"/>
                    <a:pt x="12644882" y="184150"/>
                  </a:cubicBezTo>
                  <a:lnTo>
                    <a:pt x="12619482" y="184150"/>
                  </a:lnTo>
                  <a:lnTo>
                    <a:pt x="12644882" y="184150"/>
                  </a:lnTo>
                  <a:lnTo>
                    <a:pt x="12644882" y="2751328"/>
                  </a:lnTo>
                  <a:lnTo>
                    <a:pt x="12619482" y="2751328"/>
                  </a:lnTo>
                  <a:lnTo>
                    <a:pt x="12644882" y="2751328"/>
                  </a:lnTo>
                  <a:cubicBezTo>
                    <a:pt x="12644882" y="2853309"/>
                    <a:pt x="12561189" y="2935478"/>
                    <a:pt x="12458573" y="2935478"/>
                  </a:cubicBezTo>
                  <a:lnTo>
                    <a:pt x="12458573" y="2910078"/>
                  </a:lnTo>
                  <a:lnTo>
                    <a:pt x="12458573" y="2935478"/>
                  </a:lnTo>
                  <a:lnTo>
                    <a:pt x="186309" y="2935478"/>
                  </a:lnTo>
                  <a:lnTo>
                    <a:pt x="186309" y="2910078"/>
                  </a:lnTo>
                  <a:lnTo>
                    <a:pt x="186309" y="2935478"/>
                  </a:lnTo>
                  <a:cubicBezTo>
                    <a:pt x="83693" y="2935478"/>
                    <a:pt x="0" y="2853309"/>
                    <a:pt x="0" y="2751328"/>
                  </a:cubicBezTo>
                  <a:lnTo>
                    <a:pt x="0" y="184150"/>
                  </a:lnTo>
                  <a:lnTo>
                    <a:pt x="25400" y="184150"/>
                  </a:lnTo>
                  <a:lnTo>
                    <a:pt x="0" y="184150"/>
                  </a:lnTo>
                  <a:moveTo>
                    <a:pt x="50800" y="184150"/>
                  </a:moveTo>
                  <a:lnTo>
                    <a:pt x="50800" y="2751328"/>
                  </a:lnTo>
                  <a:lnTo>
                    <a:pt x="25400" y="2751328"/>
                  </a:lnTo>
                  <a:lnTo>
                    <a:pt x="50800" y="2751328"/>
                  </a:lnTo>
                  <a:cubicBezTo>
                    <a:pt x="50800" y="2824607"/>
                    <a:pt x="111125" y="2884678"/>
                    <a:pt x="186309" y="2884678"/>
                  </a:cubicBezTo>
                  <a:lnTo>
                    <a:pt x="12458573" y="2884678"/>
                  </a:lnTo>
                  <a:cubicBezTo>
                    <a:pt x="12533757" y="2884678"/>
                    <a:pt x="12594082" y="2824607"/>
                    <a:pt x="12594082" y="2751328"/>
                  </a:cubicBezTo>
                  <a:lnTo>
                    <a:pt x="12594082" y="184150"/>
                  </a:lnTo>
                  <a:cubicBezTo>
                    <a:pt x="12594082" y="110871"/>
                    <a:pt x="12533757" y="50800"/>
                    <a:pt x="12458573" y="50800"/>
                  </a:cubicBezTo>
                  <a:lnTo>
                    <a:pt x="186309" y="50800"/>
                  </a:lnTo>
                  <a:lnTo>
                    <a:pt x="186309" y="25400"/>
                  </a:lnTo>
                  <a:lnTo>
                    <a:pt x="186309" y="50800"/>
                  </a:lnTo>
                  <a:cubicBezTo>
                    <a:pt x="111125" y="50800"/>
                    <a:pt x="50800" y="110871"/>
                    <a:pt x="50800" y="184150"/>
                  </a:cubicBezTo>
                  <a:close/>
                </a:path>
              </a:pathLst>
            </a:custGeom>
            <a:solidFill>
              <a:srgbClr val="C0C1D7"/>
            </a:solidFill>
          </p:spPr>
        </p:sp>
      </p:grpSp>
      <p:sp>
        <p:nvSpPr>
          <p:cNvPr name="TextBox 24" id="24"/>
          <p:cNvSpPr txBox="true"/>
          <p:nvPr/>
        </p:nvSpPr>
        <p:spPr>
          <a:xfrm rot="0">
            <a:off x="1313859" y="6696970"/>
            <a:ext cx="3544043" cy="461962"/>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Attempt Counter</a:t>
            </a:r>
          </a:p>
        </p:txBody>
      </p:sp>
      <p:sp>
        <p:nvSpPr>
          <p:cNvPr name="TextBox 25" id="25"/>
          <p:cNvSpPr txBox="true"/>
          <p:nvPr/>
        </p:nvSpPr>
        <p:spPr>
          <a:xfrm rot="0">
            <a:off x="1313859" y="7243315"/>
            <a:ext cx="8802291" cy="992981"/>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Visual representation of remaining incorrect guess attempts before game ends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828970"/>
            <a:ext cx="7088238" cy="914552"/>
          </a:xfrm>
          <a:prstGeom prst="rect">
            <a:avLst/>
          </a:prstGeom>
        </p:spPr>
        <p:txBody>
          <a:bodyPr anchor="t" rtlCol="false" tIns="0" lIns="0" bIns="0" rIns="0">
            <a:spAutoFit/>
          </a:bodyPr>
          <a:lstStyle/>
          <a:p>
            <a:pPr algn="l">
              <a:lnSpc>
                <a:spcPts val="6937"/>
              </a:lnSpc>
            </a:pPr>
            <a:r>
              <a:rPr lang="en-US" sz="5562" b="true">
                <a:solidFill>
                  <a:srgbClr val="000000"/>
                </a:solidFill>
                <a:latin typeface="Inter Bold"/>
                <a:ea typeface="Inter Bold"/>
                <a:cs typeface="Inter Bold"/>
                <a:sym typeface="Inter Bold"/>
              </a:rPr>
              <a:t>Example Execution</a:t>
            </a:r>
          </a:p>
        </p:txBody>
      </p:sp>
      <p:sp>
        <p:nvSpPr>
          <p:cNvPr name="TextBox 7" id="7"/>
          <p:cNvSpPr txBox="true"/>
          <p:nvPr/>
        </p:nvSpPr>
        <p:spPr>
          <a:xfrm rot="0">
            <a:off x="992238" y="2842317"/>
            <a:ext cx="4597746" cy="550659"/>
          </a:xfrm>
          <a:prstGeom prst="rect">
            <a:avLst/>
          </a:prstGeom>
        </p:spPr>
        <p:txBody>
          <a:bodyPr anchor="t" rtlCol="false" tIns="0" lIns="0" bIns="0" rIns="0">
            <a:spAutoFit/>
          </a:bodyPr>
          <a:lstStyle/>
          <a:p>
            <a:pPr algn="l">
              <a:lnSpc>
                <a:spcPts val="4125"/>
              </a:lnSpc>
            </a:pPr>
            <a:r>
              <a:rPr lang="en-US" sz="3312" b="true">
                <a:solidFill>
                  <a:srgbClr val="000000"/>
                </a:solidFill>
                <a:latin typeface="Inter Bold"/>
                <a:ea typeface="Inter Bold"/>
                <a:cs typeface="Inter Bold"/>
                <a:sym typeface="Inter Bold"/>
              </a:rPr>
              <a:t>Target Word: "APPLE"</a:t>
            </a:r>
          </a:p>
        </p:txBody>
      </p:sp>
      <p:sp>
        <p:nvSpPr>
          <p:cNvPr name="TextBox 8" id="8"/>
          <p:cNvSpPr txBox="true"/>
          <p:nvPr/>
        </p:nvSpPr>
        <p:spPr>
          <a:xfrm rot="0">
            <a:off x="992238" y="3590773"/>
            <a:ext cx="5256457" cy="4012111"/>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272525"/>
                </a:solidFill>
                <a:latin typeface="Inter Bold"/>
                <a:ea typeface="Inter Bold"/>
                <a:cs typeface="Inter Bold"/>
                <a:sym typeface="Inter Bold"/>
              </a:rPr>
              <a:t>Step 1:</a:t>
            </a:r>
            <a:r>
              <a:rPr lang="en-US" sz="2187">
                <a:solidFill>
                  <a:srgbClr val="272525"/>
                </a:solidFill>
                <a:latin typeface="Inter"/>
                <a:ea typeface="Inter"/>
                <a:cs typeface="Inter"/>
                <a:sym typeface="Inter"/>
              </a:rPr>
              <a:t> AI guesses 'E' (highest frequency) ✓ reveals position 5</a:t>
            </a:r>
          </a:p>
          <a:p>
            <a:pPr algn="l" marL="329902" indent="-164951" lvl="1">
              <a:lnSpc>
                <a:spcPts val="3562"/>
              </a:lnSpc>
              <a:buFont typeface="Arial"/>
              <a:buChar char="•"/>
            </a:pPr>
            <a:r>
              <a:rPr lang="en-US" b="true" sz="2187">
                <a:solidFill>
                  <a:srgbClr val="272525"/>
                </a:solidFill>
                <a:latin typeface="Inter Bold"/>
                <a:ea typeface="Inter Bold"/>
                <a:cs typeface="Inter Bold"/>
                <a:sym typeface="Inter Bold"/>
              </a:rPr>
              <a:t>Step 2:</a:t>
            </a:r>
            <a:r>
              <a:rPr lang="en-US" sz="2187">
                <a:solidFill>
                  <a:srgbClr val="272525"/>
                </a:solidFill>
                <a:latin typeface="Inter"/>
                <a:ea typeface="Inter"/>
                <a:cs typeface="Inter"/>
                <a:sym typeface="Inter"/>
              </a:rPr>
              <a:t> AI guesses 'A' (pattern match) ✓ reveals position 1</a:t>
            </a:r>
          </a:p>
          <a:p>
            <a:pPr algn="l" marL="329902" indent="-164951" lvl="1">
              <a:lnSpc>
                <a:spcPts val="3562"/>
              </a:lnSpc>
              <a:buFont typeface="Arial"/>
              <a:buChar char="•"/>
            </a:pPr>
            <a:r>
              <a:rPr lang="en-US" b="true" sz="2187">
                <a:solidFill>
                  <a:srgbClr val="272525"/>
                </a:solidFill>
                <a:latin typeface="Inter Bold"/>
                <a:ea typeface="Inter Bold"/>
                <a:cs typeface="Inter Bold"/>
                <a:sym typeface="Inter Bold"/>
              </a:rPr>
              <a:t>Step 3:</a:t>
            </a:r>
            <a:r>
              <a:rPr lang="en-US" sz="2187">
                <a:solidFill>
                  <a:srgbClr val="272525"/>
                </a:solidFill>
                <a:latin typeface="Inter"/>
                <a:ea typeface="Inter"/>
                <a:cs typeface="Inter"/>
                <a:sym typeface="Inter"/>
              </a:rPr>
              <a:t> AI guesses 'L' (position analysis) ✓ reveals position 4</a:t>
            </a:r>
          </a:p>
          <a:p>
            <a:pPr algn="l" marL="329902" indent="-164951" lvl="1">
              <a:lnSpc>
                <a:spcPts val="3562"/>
              </a:lnSpc>
              <a:buFont typeface="Arial"/>
              <a:buChar char="•"/>
            </a:pPr>
            <a:r>
              <a:rPr lang="en-US" b="true" sz="2187">
                <a:solidFill>
                  <a:srgbClr val="272525"/>
                </a:solidFill>
                <a:latin typeface="Inter Bold"/>
                <a:ea typeface="Inter Bold"/>
                <a:cs typeface="Inter Bold"/>
                <a:sym typeface="Inter Bold"/>
              </a:rPr>
              <a:t>Step 4:</a:t>
            </a:r>
            <a:r>
              <a:rPr lang="en-US" sz="2187">
                <a:solidFill>
                  <a:srgbClr val="272525"/>
                </a:solidFill>
                <a:latin typeface="Inter"/>
                <a:ea typeface="Inter"/>
                <a:cs typeface="Inter"/>
                <a:sym typeface="Inter"/>
              </a:rPr>
              <a:t> AI guesses 'P' (remaining letters) ✓ reveals positions 2 and 3</a:t>
            </a:r>
          </a:p>
        </p:txBody>
      </p:sp>
      <p:sp>
        <p:nvSpPr>
          <p:cNvPr name="TextBox 9" id="9"/>
          <p:cNvSpPr txBox="true"/>
          <p:nvPr/>
        </p:nvSpPr>
        <p:spPr>
          <a:xfrm rot="0">
            <a:off x="992238" y="7772248"/>
            <a:ext cx="5256457" cy="992981"/>
          </a:xfrm>
          <a:prstGeom prst="rect">
            <a:avLst/>
          </a:prstGeom>
        </p:spPr>
        <p:txBody>
          <a:bodyPr anchor="t" rtlCol="false" tIns="0" lIns="0" bIns="0" rIns="0">
            <a:spAutoFit/>
          </a:bodyPr>
          <a:lstStyle/>
          <a:p>
            <a:pPr algn="l">
              <a:lnSpc>
                <a:spcPts val="3562"/>
              </a:lnSpc>
            </a:pPr>
            <a:r>
              <a:rPr lang="en-US" sz="2187" b="true">
                <a:solidFill>
                  <a:srgbClr val="272525"/>
                </a:solidFill>
                <a:latin typeface="Inter Bold"/>
                <a:ea typeface="Inter Bold"/>
                <a:cs typeface="Inter Bold"/>
                <a:sym typeface="Inter Bold"/>
              </a:rPr>
              <a:t>Result:</a:t>
            </a:r>
            <a:r>
              <a:rPr lang="en-US" sz="2187">
                <a:solidFill>
                  <a:srgbClr val="272525"/>
                </a:solidFill>
                <a:latin typeface="Inter"/>
                <a:ea typeface="Inter"/>
                <a:cs typeface="Inter"/>
                <a:sym typeface="Inter"/>
              </a:rPr>
              <a:t> Word solved in 4 guesses with 0 incorrect attempts remaining</a:t>
            </a:r>
          </a:p>
        </p:txBody>
      </p:sp>
      <p:grpSp>
        <p:nvGrpSpPr>
          <p:cNvPr name="Group 10" id="10"/>
          <p:cNvGrpSpPr/>
          <p:nvPr/>
        </p:nvGrpSpPr>
        <p:grpSpPr>
          <a:xfrm rot="0">
            <a:off x="6949973" y="2487663"/>
            <a:ext cx="10355161" cy="6622847"/>
            <a:chOff x="0" y="0"/>
            <a:chExt cx="13806881" cy="8830462"/>
          </a:xfrm>
        </p:grpSpPr>
        <p:sp>
          <p:nvSpPr>
            <p:cNvPr name="Freeform 11" id="11" descr="preencoded.png"/>
            <p:cNvSpPr/>
            <p:nvPr/>
          </p:nvSpPr>
          <p:spPr>
            <a:xfrm flipH="false" flipV="false" rot="0">
              <a:off x="0" y="0"/>
              <a:ext cx="13806932" cy="8830437"/>
            </a:xfrm>
            <a:custGeom>
              <a:avLst/>
              <a:gdLst/>
              <a:ahLst/>
              <a:cxnLst/>
              <a:rect r="r" b="b" t="t" l="l"/>
              <a:pathLst>
                <a:path h="8830437" w="13806932">
                  <a:moveTo>
                    <a:pt x="0" y="0"/>
                  </a:moveTo>
                  <a:lnTo>
                    <a:pt x="13806932" y="0"/>
                  </a:lnTo>
                  <a:lnTo>
                    <a:pt x="13806932" y="8830437"/>
                  </a:lnTo>
                  <a:lnTo>
                    <a:pt x="0" y="8830437"/>
                  </a:lnTo>
                  <a:lnTo>
                    <a:pt x="0" y="0"/>
                  </a:lnTo>
                  <a:close/>
                </a:path>
              </a:pathLst>
            </a:custGeom>
            <a:blipFill>
              <a:blip r:embed="rId3"/>
              <a:stretch>
                <a:fillRect l="-15" t="0" r="-14" b="0"/>
              </a:stretch>
            </a:blipFill>
          </p:spPr>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1634881"/>
            <a:ext cx="8480079" cy="914552"/>
          </a:xfrm>
          <a:prstGeom prst="rect">
            <a:avLst/>
          </a:prstGeom>
        </p:spPr>
        <p:txBody>
          <a:bodyPr anchor="t" rtlCol="false" tIns="0" lIns="0" bIns="0" rIns="0">
            <a:spAutoFit/>
          </a:bodyPr>
          <a:lstStyle/>
          <a:p>
            <a:pPr algn="l">
              <a:lnSpc>
                <a:spcPts val="6937"/>
              </a:lnSpc>
            </a:pPr>
            <a:r>
              <a:rPr lang="en-US" sz="5562" b="true">
                <a:solidFill>
                  <a:srgbClr val="000000"/>
                </a:solidFill>
                <a:latin typeface="Inter Bold"/>
                <a:ea typeface="Inter Bold"/>
                <a:cs typeface="Inter Bold"/>
                <a:sym typeface="Inter Bold"/>
              </a:rPr>
              <a:t>Challenges Encountered</a:t>
            </a:r>
          </a:p>
        </p:txBody>
      </p:sp>
      <p:grpSp>
        <p:nvGrpSpPr>
          <p:cNvPr name="Group 7" id="7"/>
          <p:cNvGrpSpPr/>
          <p:nvPr/>
        </p:nvGrpSpPr>
        <p:grpSpPr>
          <a:xfrm rot="0">
            <a:off x="973188" y="3097416"/>
            <a:ext cx="8048034" cy="2655246"/>
            <a:chOff x="0" y="0"/>
            <a:chExt cx="10730713" cy="3540328"/>
          </a:xfrm>
        </p:grpSpPr>
        <p:sp>
          <p:nvSpPr>
            <p:cNvPr name="Freeform 8" id="8"/>
            <p:cNvSpPr/>
            <p:nvPr/>
          </p:nvSpPr>
          <p:spPr>
            <a:xfrm flipH="false" flipV="false" rot="0">
              <a:off x="25400" y="25400"/>
              <a:ext cx="10679938" cy="3489452"/>
            </a:xfrm>
            <a:custGeom>
              <a:avLst/>
              <a:gdLst/>
              <a:ahLst/>
              <a:cxnLst/>
              <a:rect r="r" b="b" t="t" l="l"/>
              <a:pathLst>
                <a:path h="3489452" w="10679938">
                  <a:moveTo>
                    <a:pt x="0" y="243840"/>
                  </a:moveTo>
                  <a:cubicBezTo>
                    <a:pt x="0" y="109220"/>
                    <a:pt x="110236" y="0"/>
                    <a:pt x="246253" y="0"/>
                  </a:cubicBezTo>
                  <a:lnTo>
                    <a:pt x="10433685" y="0"/>
                  </a:lnTo>
                  <a:cubicBezTo>
                    <a:pt x="10569702" y="0"/>
                    <a:pt x="10679938" y="109220"/>
                    <a:pt x="10679938" y="243840"/>
                  </a:cubicBezTo>
                  <a:lnTo>
                    <a:pt x="10679938" y="3245612"/>
                  </a:lnTo>
                  <a:cubicBezTo>
                    <a:pt x="10679938" y="3380232"/>
                    <a:pt x="10569702" y="3489452"/>
                    <a:pt x="10433685" y="3489452"/>
                  </a:cubicBezTo>
                  <a:lnTo>
                    <a:pt x="246253" y="3489452"/>
                  </a:lnTo>
                  <a:cubicBezTo>
                    <a:pt x="110236" y="3489452"/>
                    <a:pt x="0" y="3380232"/>
                    <a:pt x="0" y="3245612"/>
                  </a:cubicBezTo>
                  <a:close/>
                </a:path>
              </a:pathLst>
            </a:custGeom>
            <a:solidFill>
              <a:srgbClr val="FFFFFF"/>
            </a:solidFill>
          </p:spPr>
        </p:sp>
        <p:sp>
          <p:nvSpPr>
            <p:cNvPr name="Freeform 9" id="9"/>
            <p:cNvSpPr/>
            <p:nvPr/>
          </p:nvSpPr>
          <p:spPr>
            <a:xfrm flipH="false" flipV="false" rot="0">
              <a:off x="0" y="0"/>
              <a:ext cx="10730738" cy="3540252"/>
            </a:xfrm>
            <a:custGeom>
              <a:avLst/>
              <a:gdLst/>
              <a:ahLst/>
              <a:cxnLst/>
              <a:rect r="r" b="b" t="t" l="l"/>
              <a:pathLst>
                <a:path h="3540252" w="10730738">
                  <a:moveTo>
                    <a:pt x="0" y="269240"/>
                  </a:moveTo>
                  <a:cubicBezTo>
                    <a:pt x="0" y="120269"/>
                    <a:pt x="121793" y="0"/>
                    <a:pt x="271653" y="0"/>
                  </a:cubicBezTo>
                  <a:lnTo>
                    <a:pt x="10459085" y="0"/>
                  </a:lnTo>
                  <a:lnTo>
                    <a:pt x="10459085" y="25400"/>
                  </a:lnTo>
                  <a:lnTo>
                    <a:pt x="10459085" y="0"/>
                  </a:lnTo>
                  <a:cubicBezTo>
                    <a:pt x="10608818" y="0"/>
                    <a:pt x="10730738" y="120269"/>
                    <a:pt x="10730738" y="269240"/>
                  </a:cubicBezTo>
                  <a:lnTo>
                    <a:pt x="10705338" y="269240"/>
                  </a:lnTo>
                  <a:lnTo>
                    <a:pt x="10730738" y="269240"/>
                  </a:lnTo>
                  <a:lnTo>
                    <a:pt x="10730738" y="3271012"/>
                  </a:lnTo>
                  <a:lnTo>
                    <a:pt x="10705338" y="3271012"/>
                  </a:lnTo>
                  <a:lnTo>
                    <a:pt x="10730738" y="3271012"/>
                  </a:lnTo>
                  <a:cubicBezTo>
                    <a:pt x="10730738" y="3419983"/>
                    <a:pt x="10608945" y="3540252"/>
                    <a:pt x="10459085" y="3540252"/>
                  </a:cubicBezTo>
                  <a:lnTo>
                    <a:pt x="10459085" y="3514852"/>
                  </a:lnTo>
                  <a:lnTo>
                    <a:pt x="10459085" y="3540252"/>
                  </a:lnTo>
                  <a:lnTo>
                    <a:pt x="271653" y="3540252"/>
                  </a:lnTo>
                  <a:lnTo>
                    <a:pt x="271653" y="3514852"/>
                  </a:lnTo>
                  <a:lnTo>
                    <a:pt x="271653" y="3540252"/>
                  </a:lnTo>
                  <a:cubicBezTo>
                    <a:pt x="121793"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408"/>
                    <a:pt x="149479" y="3489452"/>
                    <a:pt x="271653" y="3489452"/>
                  </a:cubicBezTo>
                  <a:lnTo>
                    <a:pt x="10459085" y="3489452"/>
                  </a:lnTo>
                  <a:cubicBezTo>
                    <a:pt x="10581259" y="3489452"/>
                    <a:pt x="10679938" y="3391408"/>
                    <a:pt x="10679938" y="3271012"/>
                  </a:cubicBezTo>
                  <a:lnTo>
                    <a:pt x="10679938" y="269240"/>
                  </a:lnTo>
                  <a:cubicBezTo>
                    <a:pt x="10679938" y="148844"/>
                    <a:pt x="10581259" y="50800"/>
                    <a:pt x="10459085" y="50800"/>
                  </a:cubicBezTo>
                  <a:lnTo>
                    <a:pt x="271653" y="50800"/>
                  </a:lnTo>
                  <a:lnTo>
                    <a:pt x="271653" y="25400"/>
                  </a:lnTo>
                  <a:lnTo>
                    <a:pt x="271653" y="50800"/>
                  </a:lnTo>
                  <a:cubicBezTo>
                    <a:pt x="149479" y="50800"/>
                    <a:pt x="50800" y="148844"/>
                    <a:pt x="50800" y="269240"/>
                  </a:cubicBezTo>
                  <a:close/>
                </a:path>
              </a:pathLst>
            </a:custGeom>
            <a:solidFill>
              <a:srgbClr val="C0C1D7"/>
            </a:solidFill>
          </p:spPr>
        </p:sp>
      </p:grpSp>
      <p:grpSp>
        <p:nvGrpSpPr>
          <p:cNvPr name="Group 10" id="10"/>
          <p:cNvGrpSpPr/>
          <p:nvPr/>
        </p:nvGrpSpPr>
        <p:grpSpPr>
          <a:xfrm rot="0">
            <a:off x="954138" y="3116466"/>
            <a:ext cx="152400" cy="2617146"/>
            <a:chOff x="0" y="0"/>
            <a:chExt cx="203200" cy="3489528"/>
          </a:xfrm>
        </p:grpSpPr>
        <p:sp>
          <p:nvSpPr>
            <p:cNvPr name="Freeform 11" id="11"/>
            <p:cNvSpPr/>
            <p:nvPr/>
          </p:nvSpPr>
          <p:spPr>
            <a:xfrm flipH="false" flipV="false" rot="0">
              <a:off x="0" y="0"/>
              <a:ext cx="203200" cy="3489579"/>
            </a:xfrm>
            <a:custGeom>
              <a:avLst/>
              <a:gdLst/>
              <a:ahLst/>
              <a:cxnLst/>
              <a:rect r="r" b="b" t="t" l="l"/>
              <a:pathLst>
                <a:path h="3489579" w="203200">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4950BC"/>
            </a:solidFill>
          </p:spPr>
        </p:sp>
      </p:grpSp>
      <p:sp>
        <p:nvSpPr>
          <p:cNvPr name="TextBox 12" id="12"/>
          <p:cNvSpPr txBox="true"/>
          <p:nvPr/>
        </p:nvSpPr>
        <p:spPr>
          <a:xfrm rot="0">
            <a:off x="1428159" y="3419027"/>
            <a:ext cx="7020516" cy="461962"/>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Designing an effective heuristic function</a:t>
            </a:r>
          </a:p>
        </p:txBody>
      </p:sp>
      <p:sp>
        <p:nvSpPr>
          <p:cNvPr name="TextBox 13" id="13"/>
          <p:cNvSpPr txBox="true"/>
          <p:nvPr/>
        </p:nvSpPr>
        <p:spPr>
          <a:xfrm rot="0">
            <a:off x="1428159" y="3965372"/>
            <a:ext cx="7252392" cy="1446609"/>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Determining optimal weighting between letter frequency, word position, and remaining possibilities required extensive testing and refinement</a:t>
            </a:r>
          </a:p>
        </p:txBody>
      </p:sp>
      <p:grpSp>
        <p:nvGrpSpPr>
          <p:cNvPr name="Group 14" id="14"/>
          <p:cNvGrpSpPr/>
          <p:nvPr/>
        </p:nvGrpSpPr>
        <p:grpSpPr>
          <a:xfrm rot="0">
            <a:off x="9266634" y="3097416"/>
            <a:ext cx="8048177" cy="2655246"/>
            <a:chOff x="0" y="0"/>
            <a:chExt cx="10730903" cy="3540328"/>
          </a:xfrm>
        </p:grpSpPr>
        <p:sp>
          <p:nvSpPr>
            <p:cNvPr name="Freeform 15" id="15"/>
            <p:cNvSpPr/>
            <p:nvPr/>
          </p:nvSpPr>
          <p:spPr>
            <a:xfrm flipH="false" flipV="false" rot="0">
              <a:off x="25400" y="25400"/>
              <a:ext cx="10680192" cy="3489452"/>
            </a:xfrm>
            <a:custGeom>
              <a:avLst/>
              <a:gdLst/>
              <a:ahLst/>
              <a:cxnLst/>
              <a:rect r="r" b="b" t="t" l="l"/>
              <a:pathLst>
                <a:path h="3489452" w="10680192">
                  <a:moveTo>
                    <a:pt x="0" y="243840"/>
                  </a:moveTo>
                  <a:cubicBezTo>
                    <a:pt x="0" y="109220"/>
                    <a:pt x="110236" y="0"/>
                    <a:pt x="246253" y="0"/>
                  </a:cubicBezTo>
                  <a:lnTo>
                    <a:pt x="10433939" y="0"/>
                  </a:lnTo>
                  <a:cubicBezTo>
                    <a:pt x="10569956" y="0"/>
                    <a:pt x="10680192" y="109220"/>
                    <a:pt x="10680192" y="243840"/>
                  </a:cubicBezTo>
                  <a:lnTo>
                    <a:pt x="10680192" y="3245612"/>
                  </a:lnTo>
                  <a:cubicBezTo>
                    <a:pt x="10680192" y="3380232"/>
                    <a:pt x="10569956" y="3489452"/>
                    <a:pt x="10433939" y="3489452"/>
                  </a:cubicBezTo>
                  <a:lnTo>
                    <a:pt x="246253" y="3489452"/>
                  </a:lnTo>
                  <a:cubicBezTo>
                    <a:pt x="110236" y="3489452"/>
                    <a:pt x="0" y="3380232"/>
                    <a:pt x="0" y="3245612"/>
                  </a:cubicBezTo>
                  <a:close/>
                </a:path>
              </a:pathLst>
            </a:custGeom>
            <a:solidFill>
              <a:srgbClr val="FFFFFF"/>
            </a:solidFill>
          </p:spPr>
        </p:sp>
        <p:sp>
          <p:nvSpPr>
            <p:cNvPr name="Freeform 16" id="16"/>
            <p:cNvSpPr/>
            <p:nvPr/>
          </p:nvSpPr>
          <p:spPr>
            <a:xfrm flipH="false" flipV="false" rot="0">
              <a:off x="0" y="0"/>
              <a:ext cx="10730992" cy="3540252"/>
            </a:xfrm>
            <a:custGeom>
              <a:avLst/>
              <a:gdLst/>
              <a:ahLst/>
              <a:cxnLst/>
              <a:rect r="r" b="b" t="t" l="l"/>
              <a:pathLst>
                <a:path h="3540252" w="10730992">
                  <a:moveTo>
                    <a:pt x="0" y="269240"/>
                  </a:moveTo>
                  <a:cubicBezTo>
                    <a:pt x="0" y="120269"/>
                    <a:pt x="121793" y="0"/>
                    <a:pt x="271653" y="0"/>
                  </a:cubicBezTo>
                  <a:lnTo>
                    <a:pt x="10459339" y="0"/>
                  </a:lnTo>
                  <a:lnTo>
                    <a:pt x="10459339" y="25400"/>
                  </a:lnTo>
                  <a:lnTo>
                    <a:pt x="10459339" y="0"/>
                  </a:lnTo>
                  <a:cubicBezTo>
                    <a:pt x="10609072" y="0"/>
                    <a:pt x="10730992" y="120269"/>
                    <a:pt x="10730992" y="269240"/>
                  </a:cubicBezTo>
                  <a:lnTo>
                    <a:pt x="10705592" y="269240"/>
                  </a:lnTo>
                  <a:lnTo>
                    <a:pt x="10730992" y="269240"/>
                  </a:lnTo>
                  <a:lnTo>
                    <a:pt x="10730992" y="3271012"/>
                  </a:lnTo>
                  <a:lnTo>
                    <a:pt x="10705592" y="3271012"/>
                  </a:lnTo>
                  <a:lnTo>
                    <a:pt x="10730992" y="3271012"/>
                  </a:lnTo>
                  <a:cubicBezTo>
                    <a:pt x="10730992" y="3419983"/>
                    <a:pt x="10609199" y="3540252"/>
                    <a:pt x="10459339" y="3540252"/>
                  </a:cubicBezTo>
                  <a:lnTo>
                    <a:pt x="10459339" y="3514852"/>
                  </a:lnTo>
                  <a:lnTo>
                    <a:pt x="10459339" y="3540252"/>
                  </a:lnTo>
                  <a:lnTo>
                    <a:pt x="271653" y="3540252"/>
                  </a:lnTo>
                  <a:lnTo>
                    <a:pt x="271653" y="3514852"/>
                  </a:lnTo>
                  <a:lnTo>
                    <a:pt x="271653" y="3540252"/>
                  </a:lnTo>
                  <a:cubicBezTo>
                    <a:pt x="121793"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408"/>
                    <a:pt x="149479" y="3489452"/>
                    <a:pt x="271653" y="3489452"/>
                  </a:cubicBezTo>
                  <a:lnTo>
                    <a:pt x="10459339" y="3489452"/>
                  </a:lnTo>
                  <a:cubicBezTo>
                    <a:pt x="10581513" y="3489452"/>
                    <a:pt x="10680192" y="3391408"/>
                    <a:pt x="10680192" y="3271012"/>
                  </a:cubicBezTo>
                  <a:lnTo>
                    <a:pt x="10680192" y="269240"/>
                  </a:lnTo>
                  <a:cubicBezTo>
                    <a:pt x="10680192" y="148844"/>
                    <a:pt x="10581513" y="50800"/>
                    <a:pt x="10459339" y="50800"/>
                  </a:cubicBezTo>
                  <a:lnTo>
                    <a:pt x="271653" y="50800"/>
                  </a:lnTo>
                  <a:lnTo>
                    <a:pt x="271653" y="25400"/>
                  </a:lnTo>
                  <a:lnTo>
                    <a:pt x="271653" y="50800"/>
                  </a:lnTo>
                  <a:cubicBezTo>
                    <a:pt x="149479" y="50800"/>
                    <a:pt x="50800" y="148844"/>
                    <a:pt x="50800" y="269240"/>
                  </a:cubicBezTo>
                  <a:close/>
                </a:path>
              </a:pathLst>
            </a:custGeom>
            <a:solidFill>
              <a:srgbClr val="C0C1D7"/>
            </a:solidFill>
          </p:spPr>
        </p:sp>
      </p:grpSp>
      <p:grpSp>
        <p:nvGrpSpPr>
          <p:cNvPr name="Group 17" id="17"/>
          <p:cNvGrpSpPr/>
          <p:nvPr/>
        </p:nvGrpSpPr>
        <p:grpSpPr>
          <a:xfrm rot="0">
            <a:off x="9247584" y="3116466"/>
            <a:ext cx="152400" cy="2617146"/>
            <a:chOff x="0" y="0"/>
            <a:chExt cx="203200" cy="3489528"/>
          </a:xfrm>
        </p:grpSpPr>
        <p:sp>
          <p:nvSpPr>
            <p:cNvPr name="Freeform 18" id="18"/>
            <p:cNvSpPr/>
            <p:nvPr/>
          </p:nvSpPr>
          <p:spPr>
            <a:xfrm flipH="false" flipV="false" rot="0">
              <a:off x="0" y="0"/>
              <a:ext cx="203200" cy="3489579"/>
            </a:xfrm>
            <a:custGeom>
              <a:avLst/>
              <a:gdLst/>
              <a:ahLst/>
              <a:cxnLst/>
              <a:rect r="r" b="b" t="t" l="l"/>
              <a:pathLst>
                <a:path h="3489579" w="203200">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4950BC"/>
            </a:solidFill>
          </p:spPr>
        </p:sp>
      </p:grpSp>
      <p:sp>
        <p:nvSpPr>
          <p:cNvPr name="TextBox 19" id="19"/>
          <p:cNvSpPr txBox="true"/>
          <p:nvPr/>
        </p:nvSpPr>
        <p:spPr>
          <a:xfrm rot="0">
            <a:off x="9721606" y="3419027"/>
            <a:ext cx="5770064" cy="461962"/>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Managing large word dictionaries</a:t>
            </a:r>
          </a:p>
        </p:txBody>
      </p:sp>
      <p:sp>
        <p:nvSpPr>
          <p:cNvPr name="TextBox 20" id="20"/>
          <p:cNvSpPr txBox="true"/>
          <p:nvPr/>
        </p:nvSpPr>
        <p:spPr>
          <a:xfrm rot="0">
            <a:off x="9721606" y="3965372"/>
            <a:ext cx="7252545" cy="1446609"/>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Efficiently filtering thousands of possible words after each guess while maintaining accuracy demanded careful algorithm optimization</a:t>
            </a:r>
          </a:p>
        </p:txBody>
      </p:sp>
      <p:grpSp>
        <p:nvGrpSpPr>
          <p:cNvPr name="Group 21" id="21"/>
          <p:cNvGrpSpPr/>
          <p:nvPr/>
        </p:nvGrpSpPr>
        <p:grpSpPr>
          <a:xfrm rot="0">
            <a:off x="973188" y="5998073"/>
            <a:ext cx="8048034" cy="2644531"/>
            <a:chOff x="0" y="0"/>
            <a:chExt cx="10730713" cy="3526041"/>
          </a:xfrm>
        </p:grpSpPr>
        <p:sp>
          <p:nvSpPr>
            <p:cNvPr name="Freeform 22" id="22"/>
            <p:cNvSpPr/>
            <p:nvPr/>
          </p:nvSpPr>
          <p:spPr>
            <a:xfrm flipH="false" flipV="false" rot="0">
              <a:off x="25400" y="25400"/>
              <a:ext cx="10679938" cy="3475228"/>
            </a:xfrm>
            <a:custGeom>
              <a:avLst/>
              <a:gdLst/>
              <a:ahLst/>
              <a:cxnLst/>
              <a:rect r="r" b="b" t="t" l="l"/>
              <a:pathLst>
                <a:path h="3475228" w="10679938">
                  <a:moveTo>
                    <a:pt x="0" y="243840"/>
                  </a:moveTo>
                  <a:cubicBezTo>
                    <a:pt x="0" y="109220"/>
                    <a:pt x="110236" y="0"/>
                    <a:pt x="246253" y="0"/>
                  </a:cubicBezTo>
                  <a:lnTo>
                    <a:pt x="10433685" y="0"/>
                  </a:lnTo>
                  <a:cubicBezTo>
                    <a:pt x="10569702" y="0"/>
                    <a:pt x="10679938" y="109220"/>
                    <a:pt x="10679938" y="243840"/>
                  </a:cubicBezTo>
                  <a:lnTo>
                    <a:pt x="10679938" y="3231388"/>
                  </a:lnTo>
                  <a:cubicBezTo>
                    <a:pt x="10679938" y="3366008"/>
                    <a:pt x="10569702" y="3475228"/>
                    <a:pt x="10433685" y="3475228"/>
                  </a:cubicBezTo>
                  <a:lnTo>
                    <a:pt x="246253" y="3475228"/>
                  </a:lnTo>
                  <a:cubicBezTo>
                    <a:pt x="110236" y="3475228"/>
                    <a:pt x="0" y="3366008"/>
                    <a:pt x="0" y="3231388"/>
                  </a:cubicBezTo>
                  <a:close/>
                </a:path>
              </a:pathLst>
            </a:custGeom>
            <a:solidFill>
              <a:srgbClr val="FFFFFF"/>
            </a:solidFill>
          </p:spPr>
        </p:sp>
        <p:sp>
          <p:nvSpPr>
            <p:cNvPr name="Freeform 23" id="23"/>
            <p:cNvSpPr/>
            <p:nvPr/>
          </p:nvSpPr>
          <p:spPr>
            <a:xfrm flipH="false" flipV="false" rot="0">
              <a:off x="0" y="0"/>
              <a:ext cx="10730738" cy="3526028"/>
            </a:xfrm>
            <a:custGeom>
              <a:avLst/>
              <a:gdLst/>
              <a:ahLst/>
              <a:cxnLst/>
              <a:rect r="r" b="b" t="t" l="l"/>
              <a:pathLst>
                <a:path h="3526028" w="10730738">
                  <a:moveTo>
                    <a:pt x="0" y="269240"/>
                  </a:moveTo>
                  <a:cubicBezTo>
                    <a:pt x="0" y="120269"/>
                    <a:pt x="121920" y="0"/>
                    <a:pt x="271653" y="0"/>
                  </a:cubicBezTo>
                  <a:lnTo>
                    <a:pt x="10459085" y="0"/>
                  </a:lnTo>
                  <a:lnTo>
                    <a:pt x="10459085" y="25400"/>
                  </a:lnTo>
                  <a:lnTo>
                    <a:pt x="10459085" y="0"/>
                  </a:lnTo>
                  <a:cubicBezTo>
                    <a:pt x="10608818" y="0"/>
                    <a:pt x="10730738" y="120269"/>
                    <a:pt x="10730738" y="269240"/>
                  </a:cubicBezTo>
                  <a:lnTo>
                    <a:pt x="10705338" y="269240"/>
                  </a:lnTo>
                  <a:lnTo>
                    <a:pt x="10730738" y="269240"/>
                  </a:lnTo>
                  <a:lnTo>
                    <a:pt x="10730738" y="3256788"/>
                  </a:lnTo>
                  <a:lnTo>
                    <a:pt x="10705338" y="3256788"/>
                  </a:lnTo>
                  <a:lnTo>
                    <a:pt x="10730738" y="3256788"/>
                  </a:lnTo>
                  <a:cubicBezTo>
                    <a:pt x="10730738" y="3405759"/>
                    <a:pt x="10608818" y="3526028"/>
                    <a:pt x="10459085" y="3526028"/>
                  </a:cubicBezTo>
                  <a:lnTo>
                    <a:pt x="10459085" y="3500628"/>
                  </a:lnTo>
                  <a:lnTo>
                    <a:pt x="10459085" y="3526028"/>
                  </a:lnTo>
                  <a:lnTo>
                    <a:pt x="271653" y="3526028"/>
                  </a:lnTo>
                  <a:lnTo>
                    <a:pt x="271653" y="3500628"/>
                  </a:lnTo>
                  <a:lnTo>
                    <a:pt x="271653" y="3526028"/>
                  </a:lnTo>
                  <a:cubicBezTo>
                    <a:pt x="121920" y="3526028"/>
                    <a:pt x="0" y="3405759"/>
                    <a:pt x="0" y="3256788"/>
                  </a:cubicBezTo>
                  <a:lnTo>
                    <a:pt x="0" y="269240"/>
                  </a:lnTo>
                  <a:lnTo>
                    <a:pt x="25400" y="269240"/>
                  </a:lnTo>
                  <a:lnTo>
                    <a:pt x="0" y="269240"/>
                  </a:lnTo>
                  <a:moveTo>
                    <a:pt x="50800" y="269240"/>
                  </a:moveTo>
                  <a:lnTo>
                    <a:pt x="50800" y="3256788"/>
                  </a:lnTo>
                  <a:lnTo>
                    <a:pt x="25400" y="3256788"/>
                  </a:lnTo>
                  <a:lnTo>
                    <a:pt x="50800" y="3256788"/>
                  </a:lnTo>
                  <a:cubicBezTo>
                    <a:pt x="50800" y="3377184"/>
                    <a:pt x="149479" y="3475228"/>
                    <a:pt x="271653" y="3475228"/>
                  </a:cubicBezTo>
                  <a:lnTo>
                    <a:pt x="10459085" y="3475228"/>
                  </a:lnTo>
                  <a:cubicBezTo>
                    <a:pt x="10581259" y="3475228"/>
                    <a:pt x="10679938" y="3377184"/>
                    <a:pt x="10679938" y="3256788"/>
                  </a:cubicBezTo>
                  <a:lnTo>
                    <a:pt x="10679938" y="269240"/>
                  </a:lnTo>
                  <a:cubicBezTo>
                    <a:pt x="10679938" y="148844"/>
                    <a:pt x="10581259" y="50800"/>
                    <a:pt x="10459085" y="50800"/>
                  </a:cubicBezTo>
                  <a:lnTo>
                    <a:pt x="271653" y="50800"/>
                  </a:lnTo>
                  <a:lnTo>
                    <a:pt x="271653" y="25400"/>
                  </a:lnTo>
                  <a:lnTo>
                    <a:pt x="271653" y="50800"/>
                  </a:lnTo>
                  <a:cubicBezTo>
                    <a:pt x="149479" y="50800"/>
                    <a:pt x="50800" y="148844"/>
                    <a:pt x="50800" y="269240"/>
                  </a:cubicBezTo>
                  <a:close/>
                </a:path>
              </a:pathLst>
            </a:custGeom>
            <a:solidFill>
              <a:srgbClr val="C0C1D7"/>
            </a:solidFill>
          </p:spPr>
        </p:sp>
      </p:grpSp>
      <p:grpSp>
        <p:nvGrpSpPr>
          <p:cNvPr name="Group 24" id="24"/>
          <p:cNvGrpSpPr/>
          <p:nvPr/>
        </p:nvGrpSpPr>
        <p:grpSpPr>
          <a:xfrm rot="0">
            <a:off x="954138" y="6017123"/>
            <a:ext cx="152400" cy="2606431"/>
            <a:chOff x="0" y="0"/>
            <a:chExt cx="203200" cy="3475241"/>
          </a:xfrm>
        </p:grpSpPr>
        <p:sp>
          <p:nvSpPr>
            <p:cNvPr name="Freeform 25" id="25"/>
            <p:cNvSpPr/>
            <p:nvPr/>
          </p:nvSpPr>
          <p:spPr>
            <a:xfrm flipH="false" flipV="false" rot="0">
              <a:off x="0" y="0"/>
              <a:ext cx="203200" cy="3475228"/>
            </a:xfrm>
            <a:custGeom>
              <a:avLst/>
              <a:gdLst/>
              <a:ahLst/>
              <a:cxnLst/>
              <a:rect r="r" b="b" t="t" l="l"/>
              <a:pathLst>
                <a:path h="3475228" w="203200">
                  <a:moveTo>
                    <a:pt x="0" y="101600"/>
                  </a:moveTo>
                  <a:cubicBezTo>
                    <a:pt x="0" y="45466"/>
                    <a:pt x="45466" y="0"/>
                    <a:pt x="101600" y="0"/>
                  </a:cubicBezTo>
                  <a:cubicBezTo>
                    <a:pt x="157734" y="0"/>
                    <a:pt x="203200" y="45466"/>
                    <a:pt x="203200" y="101600"/>
                  </a:cubicBezTo>
                  <a:lnTo>
                    <a:pt x="203200" y="3373628"/>
                  </a:lnTo>
                  <a:cubicBezTo>
                    <a:pt x="203200" y="3429762"/>
                    <a:pt x="157734" y="3475228"/>
                    <a:pt x="101600" y="3475228"/>
                  </a:cubicBezTo>
                  <a:cubicBezTo>
                    <a:pt x="45466" y="3475228"/>
                    <a:pt x="0" y="3429762"/>
                    <a:pt x="0" y="3373628"/>
                  </a:cubicBezTo>
                  <a:close/>
                </a:path>
              </a:pathLst>
            </a:custGeom>
            <a:solidFill>
              <a:srgbClr val="4950BC"/>
            </a:solidFill>
          </p:spPr>
        </p:sp>
      </p:grpSp>
      <p:sp>
        <p:nvSpPr>
          <p:cNvPr name="TextBox 26" id="26"/>
          <p:cNvSpPr txBox="true"/>
          <p:nvPr/>
        </p:nvSpPr>
        <p:spPr>
          <a:xfrm rot="0">
            <a:off x="1428159" y="6319685"/>
            <a:ext cx="6193041" cy="461962"/>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Implementing multiplayer gameplay</a:t>
            </a:r>
          </a:p>
        </p:txBody>
      </p:sp>
      <p:sp>
        <p:nvSpPr>
          <p:cNvPr name="TextBox 27" id="27"/>
          <p:cNvSpPr txBox="true"/>
          <p:nvPr/>
        </p:nvSpPr>
        <p:spPr>
          <a:xfrm rot="0">
            <a:off x="1428159" y="6866039"/>
            <a:ext cx="7252392" cy="992981"/>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Handling multiple game modes and player interactions while maintaining game state consistency</a:t>
            </a:r>
          </a:p>
        </p:txBody>
      </p:sp>
      <p:grpSp>
        <p:nvGrpSpPr>
          <p:cNvPr name="Group 28" id="28"/>
          <p:cNvGrpSpPr/>
          <p:nvPr/>
        </p:nvGrpSpPr>
        <p:grpSpPr>
          <a:xfrm rot="0">
            <a:off x="9266634" y="5998073"/>
            <a:ext cx="8048177" cy="2644531"/>
            <a:chOff x="0" y="0"/>
            <a:chExt cx="10730903" cy="3526041"/>
          </a:xfrm>
        </p:grpSpPr>
        <p:sp>
          <p:nvSpPr>
            <p:cNvPr name="Freeform 29" id="29"/>
            <p:cNvSpPr/>
            <p:nvPr/>
          </p:nvSpPr>
          <p:spPr>
            <a:xfrm flipH="false" flipV="false" rot="0">
              <a:off x="25400" y="25400"/>
              <a:ext cx="10680065" cy="3475228"/>
            </a:xfrm>
            <a:custGeom>
              <a:avLst/>
              <a:gdLst/>
              <a:ahLst/>
              <a:cxnLst/>
              <a:rect r="r" b="b" t="t" l="l"/>
              <a:pathLst>
                <a:path h="3475228" w="10680065">
                  <a:moveTo>
                    <a:pt x="0" y="243840"/>
                  </a:moveTo>
                  <a:cubicBezTo>
                    <a:pt x="0" y="109220"/>
                    <a:pt x="110236" y="0"/>
                    <a:pt x="246253" y="0"/>
                  </a:cubicBezTo>
                  <a:lnTo>
                    <a:pt x="10433812" y="0"/>
                  </a:lnTo>
                  <a:cubicBezTo>
                    <a:pt x="10569829" y="0"/>
                    <a:pt x="10680065" y="109220"/>
                    <a:pt x="10680065" y="243840"/>
                  </a:cubicBezTo>
                  <a:lnTo>
                    <a:pt x="10680065" y="3231388"/>
                  </a:lnTo>
                  <a:cubicBezTo>
                    <a:pt x="10680065" y="3366008"/>
                    <a:pt x="10569829" y="3475228"/>
                    <a:pt x="10433812" y="3475228"/>
                  </a:cubicBezTo>
                  <a:lnTo>
                    <a:pt x="246253" y="3475228"/>
                  </a:lnTo>
                  <a:cubicBezTo>
                    <a:pt x="110236" y="3475228"/>
                    <a:pt x="0" y="3366008"/>
                    <a:pt x="0" y="3231388"/>
                  </a:cubicBezTo>
                  <a:close/>
                </a:path>
              </a:pathLst>
            </a:custGeom>
            <a:solidFill>
              <a:srgbClr val="FFFFFF"/>
            </a:solidFill>
          </p:spPr>
        </p:sp>
        <p:sp>
          <p:nvSpPr>
            <p:cNvPr name="Freeform 30" id="30"/>
            <p:cNvSpPr/>
            <p:nvPr/>
          </p:nvSpPr>
          <p:spPr>
            <a:xfrm flipH="false" flipV="false" rot="0">
              <a:off x="0" y="0"/>
              <a:ext cx="10730865" cy="3526028"/>
            </a:xfrm>
            <a:custGeom>
              <a:avLst/>
              <a:gdLst/>
              <a:ahLst/>
              <a:cxnLst/>
              <a:rect r="r" b="b" t="t" l="l"/>
              <a:pathLst>
                <a:path h="3526028" w="10730865">
                  <a:moveTo>
                    <a:pt x="0" y="269240"/>
                  </a:moveTo>
                  <a:cubicBezTo>
                    <a:pt x="0" y="120269"/>
                    <a:pt x="121920" y="0"/>
                    <a:pt x="271653" y="0"/>
                  </a:cubicBezTo>
                  <a:lnTo>
                    <a:pt x="10459212" y="0"/>
                  </a:lnTo>
                  <a:lnTo>
                    <a:pt x="10459212" y="25400"/>
                  </a:lnTo>
                  <a:lnTo>
                    <a:pt x="10459212" y="0"/>
                  </a:lnTo>
                  <a:cubicBezTo>
                    <a:pt x="10608945" y="0"/>
                    <a:pt x="10730865" y="120269"/>
                    <a:pt x="10730865" y="269240"/>
                  </a:cubicBezTo>
                  <a:lnTo>
                    <a:pt x="10705465" y="269240"/>
                  </a:lnTo>
                  <a:lnTo>
                    <a:pt x="10730865" y="269240"/>
                  </a:lnTo>
                  <a:lnTo>
                    <a:pt x="10730865" y="3256788"/>
                  </a:lnTo>
                  <a:lnTo>
                    <a:pt x="10705465" y="3256788"/>
                  </a:lnTo>
                  <a:lnTo>
                    <a:pt x="10730865" y="3256788"/>
                  </a:lnTo>
                  <a:cubicBezTo>
                    <a:pt x="10730865" y="3405759"/>
                    <a:pt x="10608945" y="3526028"/>
                    <a:pt x="10459212" y="3526028"/>
                  </a:cubicBezTo>
                  <a:lnTo>
                    <a:pt x="10459212" y="3500628"/>
                  </a:lnTo>
                  <a:lnTo>
                    <a:pt x="10459212" y="3526028"/>
                  </a:lnTo>
                  <a:lnTo>
                    <a:pt x="271653" y="3526028"/>
                  </a:lnTo>
                  <a:lnTo>
                    <a:pt x="271653" y="3500628"/>
                  </a:lnTo>
                  <a:lnTo>
                    <a:pt x="271653" y="3526028"/>
                  </a:lnTo>
                  <a:cubicBezTo>
                    <a:pt x="121920" y="3526028"/>
                    <a:pt x="0" y="3405759"/>
                    <a:pt x="0" y="3256788"/>
                  </a:cubicBezTo>
                  <a:lnTo>
                    <a:pt x="0" y="269240"/>
                  </a:lnTo>
                  <a:lnTo>
                    <a:pt x="25400" y="269240"/>
                  </a:lnTo>
                  <a:lnTo>
                    <a:pt x="0" y="269240"/>
                  </a:lnTo>
                  <a:moveTo>
                    <a:pt x="50800" y="269240"/>
                  </a:moveTo>
                  <a:lnTo>
                    <a:pt x="50800" y="3256788"/>
                  </a:lnTo>
                  <a:lnTo>
                    <a:pt x="25400" y="3256788"/>
                  </a:lnTo>
                  <a:lnTo>
                    <a:pt x="50800" y="3256788"/>
                  </a:lnTo>
                  <a:cubicBezTo>
                    <a:pt x="50800" y="3377184"/>
                    <a:pt x="149479" y="3475228"/>
                    <a:pt x="271653" y="3475228"/>
                  </a:cubicBezTo>
                  <a:lnTo>
                    <a:pt x="10459212" y="3475228"/>
                  </a:lnTo>
                  <a:cubicBezTo>
                    <a:pt x="10581386" y="3475228"/>
                    <a:pt x="10680065" y="3377184"/>
                    <a:pt x="10680065" y="3256788"/>
                  </a:cubicBezTo>
                  <a:lnTo>
                    <a:pt x="10680065" y="269240"/>
                  </a:lnTo>
                  <a:cubicBezTo>
                    <a:pt x="10680065" y="148844"/>
                    <a:pt x="10581386" y="50800"/>
                    <a:pt x="10459212" y="50800"/>
                  </a:cubicBezTo>
                  <a:lnTo>
                    <a:pt x="271653" y="50800"/>
                  </a:lnTo>
                  <a:lnTo>
                    <a:pt x="271653" y="25400"/>
                  </a:lnTo>
                  <a:lnTo>
                    <a:pt x="271653" y="50800"/>
                  </a:lnTo>
                  <a:cubicBezTo>
                    <a:pt x="149479" y="50800"/>
                    <a:pt x="50800" y="148844"/>
                    <a:pt x="50800" y="269240"/>
                  </a:cubicBezTo>
                  <a:close/>
                </a:path>
              </a:pathLst>
            </a:custGeom>
            <a:solidFill>
              <a:srgbClr val="C0C1D7"/>
            </a:solidFill>
          </p:spPr>
        </p:sp>
      </p:grpSp>
      <p:grpSp>
        <p:nvGrpSpPr>
          <p:cNvPr name="Group 31" id="31"/>
          <p:cNvGrpSpPr/>
          <p:nvPr/>
        </p:nvGrpSpPr>
        <p:grpSpPr>
          <a:xfrm rot="0">
            <a:off x="9247584" y="6017123"/>
            <a:ext cx="152400" cy="2606431"/>
            <a:chOff x="0" y="0"/>
            <a:chExt cx="203200" cy="3475241"/>
          </a:xfrm>
        </p:grpSpPr>
        <p:sp>
          <p:nvSpPr>
            <p:cNvPr name="Freeform 32" id="32"/>
            <p:cNvSpPr/>
            <p:nvPr/>
          </p:nvSpPr>
          <p:spPr>
            <a:xfrm flipH="false" flipV="false" rot="0">
              <a:off x="0" y="0"/>
              <a:ext cx="203200" cy="3475228"/>
            </a:xfrm>
            <a:custGeom>
              <a:avLst/>
              <a:gdLst/>
              <a:ahLst/>
              <a:cxnLst/>
              <a:rect r="r" b="b" t="t" l="l"/>
              <a:pathLst>
                <a:path h="3475228" w="203200">
                  <a:moveTo>
                    <a:pt x="0" y="101600"/>
                  </a:moveTo>
                  <a:cubicBezTo>
                    <a:pt x="0" y="45466"/>
                    <a:pt x="45466" y="0"/>
                    <a:pt x="101600" y="0"/>
                  </a:cubicBezTo>
                  <a:cubicBezTo>
                    <a:pt x="157734" y="0"/>
                    <a:pt x="203200" y="45466"/>
                    <a:pt x="203200" y="101600"/>
                  </a:cubicBezTo>
                  <a:lnTo>
                    <a:pt x="203200" y="3373628"/>
                  </a:lnTo>
                  <a:cubicBezTo>
                    <a:pt x="203200" y="3429762"/>
                    <a:pt x="157734" y="3475228"/>
                    <a:pt x="101600" y="3475228"/>
                  </a:cubicBezTo>
                  <a:cubicBezTo>
                    <a:pt x="45466" y="3475228"/>
                    <a:pt x="0" y="3429762"/>
                    <a:pt x="0" y="3373628"/>
                  </a:cubicBezTo>
                  <a:close/>
                </a:path>
              </a:pathLst>
            </a:custGeom>
            <a:solidFill>
              <a:srgbClr val="4950BC"/>
            </a:solidFill>
          </p:spPr>
        </p:sp>
      </p:grpSp>
      <p:sp>
        <p:nvSpPr>
          <p:cNvPr name="TextBox 33" id="33"/>
          <p:cNvSpPr txBox="true"/>
          <p:nvPr/>
        </p:nvSpPr>
        <p:spPr>
          <a:xfrm rot="0">
            <a:off x="9721606" y="6319685"/>
            <a:ext cx="7252545" cy="904875"/>
          </a:xfrm>
          <a:prstGeom prst="rect">
            <a:avLst/>
          </a:prstGeom>
        </p:spPr>
        <p:txBody>
          <a:bodyPr anchor="t" rtlCol="false" tIns="0" lIns="0" bIns="0" rIns="0">
            <a:spAutoFit/>
          </a:bodyPr>
          <a:lstStyle/>
          <a:p>
            <a:pPr algn="l">
              <a:lnSpc>
                <a:spcPts val="3437"/>
              </a:lnSpc>
            </a:pPr>
            <a:r>
              <a:rPr lang="en-US" sz="2750" b="true">
                <a:solidFill>
                  <a:srgbClr val="272525"/>
                </a:solidFill>
                <a:latin typeface="Inter Bold"/>
                <a:ea typeface="Inter Bold"/>
                <a:cs typeface="Inter Bold"/>
                <a:sym typeface="Inter Bold"/>
              </a:rPr>
              <a:t>Maintaining game balance between AI and player</a:t>
            </a:r>
          </a:p>
        </p:txBody>
      </p:sp>
      <p:sp>
        <p:nvSpPr>
          <p:cNvPr name="TextBox 34" id="34"/>
          <p:cNvSpPr txBox="true"/>
          <p:nvPr/>
        </p:nvSpPr>
        <p:spPr>
          <a:xfrm rot="0">
            <a:off x="9721606" y="7308952"/>
            <a:ext cx="7252545" cy="992981"/>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Ensuring the AI is challenging but not unbeatable, and that all game modes provide engaging experiences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1652435"/>
            <a:ext cx="7088238" cy="914552"/>
          </a:xfrm>
          <a:prstGeom prst="rect">
            <a:avLst/>
          </a:prstGeom>
        </p:spPr>
        <p:txBody>
          <a:bodyPr anchor="t" rtlCol="false" tIns="0" lIns="0" bIns="0" rIns="0">
            <a:spAutoFit/>
          </a:bodyPr>
          <a:lstStyle/>
          <a:p>
            <a:pPr algn="l">
              <a:lnSpc>
                <a:spcPts val="6937"/>
              </a:lnSpc>
            </a:pPr>
            <a:r>
              <a:rPr lang="en-US" sz="5562" b="true">
                <a:solidFill>
                  <a:srgbClr val="000000"/>
                </a:solidFill>
                <a:latin typeface="Inter Bold"/>
                <a:ea typeface="Inter Bold"/>
                <a:cs typeface="Inter Bold"/>
                <a:sym typeface="Inter Bold"/>
              </a:rPr>
              <a:t>Game Modes</a:t>
            </a:r>
          </a:p>
        </p:txBody>
      </p:sp>
      <p:sp>
        <p:nvSpPr>
          <p:cNvPr name="Freeform 7" id="7" descr="preencoded.png"/>
          <p:cNvSpPr/>
          <p:nvPr/>
        </p:nvSpPr>
        <p:spPr>
          <a:xfrm flipH="false" flipV="false" rot="0">
            <a:off x="992238" y="3134020"/>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3">
              <a:extLst>
                <a:ext uri="{96DAC541-7B7A-43D3-8B79-37D633B846F1}">
                  <asvg:svgBlip xmlns:asvg="http://schemas.microsoft.com/office/drawing/2016/SVG/main" r:embed="rId4"/>
                </a:ext>
              </a:extLst>
            </a:blip>
            <a:stretch>
              <a:fillRect l="-666" t="0" r="-666" b="0"/>
            </a:stretch>
          </a:blipFill>
        </p:spPr>
      </p:sp>
      <p:sp>
        <p:nvSpPr>
          <p:cNvPr name="TextBox 8" id="8"/>
          <p:cNvSpPr txBox="true"/>
          <p:nvPr/>
        </p:nvSpPr>
        <p:spPr>
          <a:xfrm rot="0">
            <a:off x="992238" y="4178056"/>
            <a:ext cx="4252912" cy="550659"/>
          </a:xfrm>
          <a:prstGeom prst="rect">
            <a:avLst/>
          </a:prstGeom>
        </p:spPr>
        <p:txBody>
          <a:bodyPr anchor="t" rtlCol="false" tIns="0" lIns="0" bIns="0" rIns="0">
            <a:spAutoFit/>
          </a:bodyPr>
          <a:lstStyle/>
          <a:p>
            <a:pPr algn="l">
              <a:lnSpc>
                <a:spcPts val="4125"/>
              </a:lnSpc>
            </a:pPr>
            <a:r>
              <a:rPr lang="en-US" sz="3312" b="true">
                <a:solidFill>
                  <a:srgbClr val="272525"/>
                </a:solidFill>
                <a:latin typeface="Inter Bold"/>
                <a:ea typeface="Inter Bold"/>
                <a:cs typeface="Inter Bold"/>
                <a:sym typeface="Inter Bold"/>
              </a:rPr>
              <a:t>Player vs AI</a:t>
            </a:r>
          </a:p>
        </p:txBody>
      </p:sp>
      <p:sp>
        <p:nvSpPr>
          <p:cNvPr name="TextBox 9" id="9"/>
          <p:cNvSpPr txBox="true"/>
          <p:nvPr/>
        </p:nvSpPr>
        <p:spPr>
          <a:xfrm rot="0">
            <a:off x="992238" y="4813097"/>
            <a:ext cx="5198269" cy="3714750"/>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Player chooses a word and the AI attempts to guess it using the heuristic search algorithm. The AI's performance is measured by the number of guesses needed and incorrect attempts made. This mode demonstrates the AI's effectiveness against human-selected words.</a:t>
            </a:r>
          </a:p>
        </p:txBody>
      </p:sp>
      <p:sp>
        <p:nvSpPr>
          <p:cNvPr name="Freeform 10" id="10" descr="preencoded.png"/>
          <p:cNvSpPr/>
          <p:nvPr/>
        </p:nvSpPr>
        <p:spPr>
          <a:xfrm flipH="false" flipV="false" rot="0">
            <a:off x="6544866" y="3134020"/>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6544866" y="4178056"/>
            <a:ext cx="4252912" cy="550659"/>
          </a:xfrm>
          <a:prstGeom prst="rect">
            <a:avLst/>
          </a:prstGeom>
        </p:spPr>
        <p:txBody>
          <a:bodyPr anchor="t" rtlCol="false" tIns="0" lIns="0" bIns="0" rIns="0">
            <a:spAutoFit/>
          </a:bodyPr>
          <a:lstStyle/>
          <a:p>
            <a:pPr algn="l">
              <a:lnSpc>
                <a:spcPts val="4125"/>
              </a:lnSpc>
            </a:pPr>
            <a:r>
              <a:rPr lang="en-US" sz="3312" b="true">
                <a:solidFill>
                  <a:srgbClr val="272525"/>
                </a:solidFill>
                <a:latin typeface="Inter Bold"/>
                <a:ea typeface="Inter Bold"/>
                <a:cs typeface="Inter Bold"/>
                <a:sym typeface="Inter Bold"/>
              </a:rPr>
              <a:t>AI vs Player</a:t>
            </a:r>
          </a:p>
        </p:txBody>
      </p:sp>
      <p:sp>
        <p:nvSpPr>
          <p:cNvPr name="TextBox 12" id="12"/>
          <p:cNvSpPr txBox="true"/>
          <p:nvPr/>
        </p:nvSpPr>
        <p:spPr>
          <a:xfrm rot="0">
            <a:off x="6544866" y="4813097"/>
            <a:ext cx="5198269" cy="3261122"/>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The AI selects a word from its dictionary and the player attempts to guess it. This mode allows players to experience the challenge of guessing against a computer-generated word. The difficulty can be adjusted by varying word length and complexity.</a:t>
            </a:r>
          </a:p>
        </p:txBody>
      </p:sp>
      <p:sp>
        <p:nvSpPr>
          <p:cNvPr name="Freeform 13" id="13" descr="preencoded.png"/>
          <p:cNvSpPr/>
          <p:nvPr/>
        </p:nvSpPr>
        <p:spPr>
          <a:xfrm flipH="false" flipV="false" rot="0">
            <a:off x="12097493" y="3134020"/>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7">
              <a:extLst>
                <a:ext uri="{96DAC541-7B7A-43D3-8B79-37D633B846F1}">
                  <asvg:svgBlip xmlns:asvg="http://schemas.microsoft.com/office/drawing/2016/SVG/main" r:embed="rId8"/>
                </a:ext>
              </a:extLst>
            </a:blip>
            <a:stretch>
              <a:fillRect l="-7332" t="0" r="-7334" b="0"/>
            </a:stretch>
          </a:blipFill>
        </p:spPr>
      </p:sp>
      <p:sp>
        <p:nvSpPr>
          <p:cNvPr name="TextBox 14" id="14"/>
          <p:cNvSpPr txBox="true"/>
          <p:nvPr/>
        </p:nvSpPr>
        <p:spPr>
          <a:xfrm rot="0">
            <a:off x="12097493" y="4178056"/>
            <a:ext cx="5198269" cy="1082278"/>
          </a:xfrm>
          <a:prstGeom prst="rect">
            <a:avLst/>
          </a:prstGeom>
        </p:spPr>
        <p:txBody>
          <a:bodyPr anchor="t" rtlCol="false" tIns="0" lIns="0" bIns="0" rIns="0">
            <a:spAutoFit/>
          </a:bodyPr>
          <a:lstStyle/>
          <a:p>
            <a:pPr algn="l">
              <a:lnSpc>
                <a:spcPts val="4125"/>
              </a:lnSpc>
            </a:pPr>
            <a:r>
              <a:rPr lang="en-US" sz="3312" b="true">
                <a:solidFill>
                  <a:srgbClr val="272525"/>
                </a:solidFill>
                <a:latin typeface="Inter Bold"/>
                <a:ea typeface="Inter Bold"/>
                <a:cs typeface="Inter Bold"/>
                <a:sym typeface="Inter Bold"/>
              </a:rPr>
              <a:t>Player vs Player (Multiplayer)</a:t>
            </a:r>
          </a:p>
        </p:txBody>
      </p:sp>
      <p:sp>
        <p:nvSpPr>
          <p:cNvPr name="TextBox 15" id="15"/>
          <p:cNvSpPr txBox="true"/>
          <p:nvPr/>
        </p:nvSpPr>
        <p:spPr>
          <a:xfrm rot="0">
            <a:off x="12097493" y="5344716"/>
            <a:ext cx="5198269" cy="3261122"/>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One player enters a secret word while another player attempts to guess it. This classic mode provides competitive gameplay without AI involvement, allowing players to test their word-guessing skills against each other.</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1840411"/>
            <a:ext cx="7088238" cy="914552"/>
          </a:xfrm>
          <a:prstGeom prst="rect">
            <a:avLst/>
          </a:prstGeom>
        </p:spPr>
        <p:txBody>
          <a:bodyPr anchor="t" rtlCol="false" tIns="0" lIns="0" bIns="0" rIns="0">
            <a:spAutoFit/>
          </a:bodyPr>
          <a:lstStyle/>
          <a:p>
            <a:pPr algn="l">
              <a:lnSpc>
                <a:spcPts val="6937"/>
              </a:lnSpc>
            </a:pPr>
            <a:r>
              <a:rPr lang="en-US" sz="5562" b="true">
                <a:solidFill>
                  <a:srgbClr val="000000"/>
                </a:solidFill>
                <a:latin typeface="Inter Bold"/>
                <a:ea typeface="Inter Bold"/>
                <a:cs typeface="Inter Bold"/>
                <a:sym typeface="Inter Bold"/>
              </a:rPr>
              <a:t>Conclusion</a:t>
            </a:r>
          </a:p>
        </p:txBody>
      </p:sp>
      <p:sp>
        <p:nvSpPr>
          <p:cNvPr name="TextBox 7" id="7"/>
          <p:cNvSpPr txBox="true"/>
          <p:nvPr/>
        </p:nvSpPr>
        <p:spPr>
          <a:xfrm rot="0">
            <a:off x="992238" y="3444631"/>
            <a:ext cx="4252912" cy="550659"/>
          </a:xfrm>
          <a:prstGeom prst="rect">
            <a:avLst/>
          </a:prstGeom>
        </p:spPr>
        <p:txBody>
          <a:bodyPr anchor="t" rtlCol="false" tIns="0" lIns="0" bIns="0" rIns="0">
            <a:spAutoFit/>
          </a:bodyPr>
          <a:lstStyle/>
          <a:p>
            <a:pPr algn="l">
              <a:lnSpc>
                <a:spcPts val="4125"/>
              </a:lnSpc>
            </a:pPr>
            <a:r>
              <a:rPr lang="en-US" sz="3312" b="true">
                <a:solidFill>
                  <a:srgbClr val="000000"/>
                </a:solidFill>
                <a:latin typeface="Inter Bold"/>
                <a:ea typeface="Inter Bold"/>
                <a:cs typeface="Inter Bold"/>
                <a:sym typeface="Inter Bold"/>
              </a:rPr>
              <a:t>Key Achievements</a:t>
            </a:r>
          </a:p>
        </p:txBody>
      </p:sp>
      <p:sp>
        <p:nvSpPr>
          <p:cNvPr name="TextBox 8" id="8"/>
          <p:cNvSpPr txBox="true"/>
          <p:nvPr/>
        </p:nvSpPr>
        <p:spPr>
          <a:xfrm rot="0">
            <a:off x="992238" y="4193086"/>
            <a:ext cx="7805890" cy="3558483"/>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272525"/>
                </a:solidFill>
                <a:latin typeface="Inter"/>
                <a:ea typeface="Inter"/>
                <a:cs typeface="Inter"/>
                <a:sym typeface="Inter"/>
              </a:rPr>
              <a:t>Successfully implemented heuristic search for intelligent letter guessing</a:t>
            </a:r>
          </a:p>
          <a:p>
            <a:pPr algn="l" marL="329902" indent="-164951" lvl="1">
              <a:lnSpc>
                <a:spcPts val="3562"/>
              </a:lnSpc>
              <a:buFont typeface="Arial"/>
              <a:buChar char="•"/>
            </a:pPr>
            <a:r>
              <a:rPr lang="en-US" sz="2187">
                <a:solidFill>
                  <a:srgbClr val="272525"/>
                </a:solidFill>
                <a:latin typeface="Inter"/>
                <a:ea typeface="Inter"/>
                <a:cs typeface="Inter"/>
                <a:sym typeface="Inter"/>
              </a:rPr>
              <a:t>Achieved significantly better performance than random guessing</a:t>
            </a:r>
          </a:p>
          <a:p>
            <a:pPr algn="l" marL="329902" indent="-164951" lvl="1">
              <a:lnSpc>
                <a:spcPts val="3562"/>
              </a:lnSpc>
              <a:buFont typeface="Arial"/>
              <a:buChar char="•"/>
            </a:pPr>
            <a:r>
              <a:rPr lang="en-US" sz="2187">
                <a:solidFill>
                  <a:srgbClr val="272525"/>
                </a:solidFill>
                <a:latin typeface="Inter"/>
                <a:ea typeface="Inter"/>
                <a:cs typeface="Inter"/>
                <a:sym typeface="Inter"/>
              </a:rPr>
              <a:t>Demonstrated practical application of AI search techniques</a:t>
            </a:r>
          </a:p>
          <a:p>
            <a:pPr algn="l" marL="329902" indent="-164951" lvl="1">
              <a:lnSpc>
                <a:spcPts val="3562"/>
              </a:lnSpc>
              <a:buFont typeface="Arial"/>
              <a:buChar char="•"/>
            </a:pPr>
            <a:r>
              <a:rPr lang="en-US" sz="2187">
                <a:solidFill>
                  <a:srgbClr val="272525"/>
                </a:solidFill>
                <a:latin typeface="Inter"/>
                <a:ea typeface="Inter"/>
                <a:cs typeface="Inter"/>
                <a:sym typeface="Inter"/>
              </a:rPr>
              <a:t>Created extensible framework for word game AI</a:t>
            </a:r>
          </a:p>
        </p:txBody>
      </p:sp>
      <p:sp>
        <p:nvSpPr>
          <p:cNvPr name="TextBox 9" id="9"/>
          <p:cNvSpPr txBox="true"/>
          <p:nvPr/>
        </p:nvSpPr>
        <p:spPr>
          <a:xfrm rot="0">
            <a:off x="9499397" y="3444631"/>
            <a:ext cx="4252912" cy="550659"/>
          </a:xfrm>
          <a:prstGeom prst="rect">
            <a:avLst/>
          </a:prstGeom>
        </p:spPr>
        <p:txBody>
          <a:bodyPr anchor="t" rtlCol="false" tIns="0" lIns="0" bIns="0" rIns="0">
            <a:spAutoFit/>
          </a:bodyPr>
          <a:lstStyle/>
          <a:p>
            <a:pPr algn="l">
              <a:lnSpc>
                <a:spcPts val="4125"/>
              </a:lnSpc>
            </a:pPr>
            <a:r>
              <a:rPr lang="en-US" sz="3312" b="true">
                <a:solidFill>
                  <a:srgbClr val="000000"/>
                </a:solidFill>
                <a:latin typeface="Inter Bold"/>
                <a:ea typeface="Inter Bold"/>
                <a:cs typeface="Inter Bold"/>
                <a:sym typeface="Inter Bold"/>
              </a:rPr>
              <a:t>AI Advantages</a:t>
            </a:r>
          </a:p>
        </p:txBody>
      </p:sp>
      <p:sp>
        <p:nvSpPr>
          <p:cNvPr name="TextBox 10" id="10"/>
          <p:cNvSpPr txBox="true"/>
          <p:nvPr/>
        </p:nvSpPr>
        <p:spPr>
          <a:xfrm rot="0">
            <a:off x="9499397" y="4193086"/>
            <a:ext cx="7805890" cy="2807494"/>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The AI approach transforms Hangman from a game of chance into a demonstration of informed decision-making. By leveraging letter frequency analysis and pattern matching, the system achieves higher success rates while providing insights into algorithmic problem-solving.</a:t>
            </a:r>
          </a:p>
        </p:txBody>
      </p:sp>
      <p:sp>
        <p:nvSpPr>
          <p:cNvPr name="TextBox 11" id="11"/>
          <p:cNvSpPr txBox="true"/>
          <p:nvPr/>
        </p:nvSpPr>
        <p:spPr>
          <a:xfrm rot="0">
            <a:off x="9499397" y="7169944"/>
            <a:ext cx="7805890" cy="992981"/>
          </a:xfrm>
          <a:prstGeom prst="rect">
            <a:avLst/>
          </a:prstGeom>
        </p:spPr>
        <p:txBody>
          <a:bodyPr anchor="t" rtlCol="false" tIns="0" lIns="0" bIns="0" rIns="0">
            <a:spAutoFit/>
          </a:bodyPr>
          <a:lstStyle/>
          <a:p>
            <a:pPr algn="l">
              <a:lnSpc>
                <a:spcPts val="3562"/>
              </a:lnSpc>
            </a:pPr>
            <a:r>
              <a:rPr lang="en-US" sz="2187" b="true">
                <a:solidFill>
                  <a:srgbClr val="272525"/>
                </a:solidFill>
                <a:latin typeface="Inter Bold"/>
                <a:ea typeface="Inter Bold"/>
                <a:cs typeface="Inter Bold"/>
                <a:sym typeface="Inter Bold"/>
              </a:rPr>
              <a:t>Future improvements:</a:t>
            </a:r>
            <a:r>
              <a:rPr lang="en-US" sz="2187">
                <a:solidFill>
                  <a:srgbClr val="272525"/>
                </a:solidFill>
                <a:latin typeface="Inter"/>
                <a:ea typeface="Inter"/>
                <a:cs typeface="Inter"/>
                <a:sym typeface="Inter"/>
              </a:rPr>
              <a:t> Machine learning integration, difficulty adaptation, and multi-language support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DAHEzISdorA</dc:identifier>
  <dcterms:modified xsi:type="dcterms:W3CDTF">2011-08-01T06:04:30Z</dcterms:modified>
  <cp:revision>1</cp:revision>
  <dc:title>Hangman-Game.pptx</dc:title>
</cp:coreProperties>
</file>